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</p:sldMasterIdLst>
  <p:notesMasterIdLst>
    <p:notesMasterId r:id="rId27"/>
  </p:notesMasterIdLst>
  <p:sldIdLst>
    <p:sldId id="256" r:id="rId3"/>
    <p:sldId id="317" r:id="rId4"/>
    <p:sldId id="318" r:id="rId5"/>
    <p:sldId id="302" r:id="rId6"/>
    <p:sldId id="305" r:id="rId7"/>
    <p:sldId id="376" r:id="rId8"/>
    <p:sldId id="377" r:id="rId9"/>
    <p:sldId id="378" r:id="rId10"/>
    <p:sldId id="379" r:id="rId11"/>
    <p:sldId id="372" r:id="rId12"/>
    <p:sldId id="362" r:id="rId13"/>
    <p:sldId id="363" r:id="rId14"/>
    <p:sldId id="373" r:id="rId15"/>
    <p:sldId id="364" r:id="rId16"/>
    <p:sldId id="365" r:id="rId17"/>
    <p:sldId id="367" r:id="rId18"/>
    <p:sldId id="368" r:id="rId19"/>
    <p:sldId id="375" r:id="rId20"/>
    <p:sldId id="359" r:id="rId21"/>
    <p:sldId id="360" r:id="rId22"/>
    <p:sldId id="374" r:id="rId23"/>
    <p:sldId id="369" r:id="rId24"/>
    <p:sldId id="370" r:id="rId25"/>
    <p:sldId id="371" r:id="rId26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997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50" y="35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640FE-EFD0-4AEC-92AD-C664460273B4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B0D2D9-3B39-402E-B0CD-2121733AD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40695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CC78-ECDC-486F-8F8D-2A5F3B483180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9C33-A077-4B99-98A9-20C72858E7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CC78-ECDC-486F-8F8D-2A5F3B483180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9C33-A077-4B99-98A9-20C72858E7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EF84B238-74BD-4021-B5A9-E4FC88A32D1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</a:t>
            </a: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三级</a:t>
            </a: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四级</a:t>
            </a:r>
          </a:p>
          <a:p>
            <a:pPr lvl="4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CC78-ECDC-486F-8F8D-2A5F3B483180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9C33-A077-4B99-98A9-20C72858E790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30" name="组合 29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0" y="0"/>
              <a:ext cx="12192000" cy="6858000"/>
            </a:xfrm>
            <a:prstGeom prst="rect">
              <a:avLst/>
            </a:prstGeom>
            <a:solidFill>
              <a:schemeClr val="accent2"/>
            </a:solidFill>
          </p:spPr>
        </p:pic>
        <p:sp>
          <p:nvSpPr>
            <p:cNvPr id="29" name="矩形 28"/>
            <p:cNvSpPr/>
            <p:nvPr/>
          </p:nvSpPr>
          <p:spPr>
            <a:xfrm>
              <a:off x="247650" y="182880"/>
              <a:ext cx="11696700" cy="6492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68CCC78-ECDC-486F-8F8D-2A5F3B483180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C399C33-A077-4B99-98A9-20C72858E79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矩形: 圆角 20"/>
          <p:cNvSpPr/>
          <p:nvPr/>
        </p:nvSpPr>
        <p:spPr>
          <a:xfrm>
            <a:off x="274684" y="3762069"/>
            <a:ext cx="6353139" cy="783553"/>
          </a:xfrm>
          <a:prstGeom prst="roundRect">
            <a:avLst>
              <a:gd name="adj" fmla="val 50000"/>
            </a:avLst>
          </a:prstGeom>
          <a:solidFill>
            <a:schemeClr val="accent1">
              <a:alpha val="16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语音自动接电话点餐，帮助餐厅省人、省时、增营收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18920" y="1219200"/>
            <a:ext cx="2727029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600" dirty="0">
                <a:ln w="28575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  <a:noFill/>
                <a:latin typeface="思源宋体 CN Heavy" pitchFamily="18" charset="-122"/>
                <a:ea typeface="思源宋体 CN Heavy" pitchFamily="18" charset="-122"/>
              </a:rPr>
              <a:t>AI</a:t>
            </a:r>
            <a:endParaRPr lang="zh-CN" altLang="en-US" sz="16600" dirty="0">
              <a:ln w="28575">
                <a:solidFill>
                  <a:schemeClr val="accent4">
                    <a:lumMod val="20000"/>
                    <a:lumOff val="80000"/>
                  </a:schemeClr>
                </a:solidFill>
              </a:ln>
              <a:noFill/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2708109" y="1828800"/>
            <a:ext cx="3494573" cy="51581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151726" y="185587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语音智能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472153" y="1912569"/>
            <a:ext cx="1077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Voice AI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700276" y="2509754"/>
            <a:ext cx="5670003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itchFamily="18" charset="-122"/>
                <a:ea typeface="思源宋体 CN Heavy" pitchFamily="18" charset="-122"/>
                <a:cs typeface="+mn-ea"/>
                <a:sym typeface="+mn-lt"/>
              </a:rPr>
              <a:t>语音点餐应用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-19963" y="1219200"/>
            <a:ext cx="2727030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60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2700000" scaled="0"/>
                </a:gradFill>
                <a:latin typeface="思源宋体 CN Heavy" pitchFamily="18" charset="-122"/>
                <a:ea typeface="思源宋体 CN Heavy" pitchFamily="18" charset="-122"/>
              </a:rPr>
              <a:t>AI</a:t>
            </a:r>
          </a:p>
        </p:txBody>
      </p:sp>
      <p:sp>
        <p:nvSpPr>
          <p:cNvPr id="22" name="Text1"/>
          <p:cNvSpPr txBox="1"/>
          <p:nvPr/>
        </p:nvSpPr>
        <p:spPr>
          <a:xfrm>
            <a:off x="274684" y="4646311"/>
            <a:ext cx="6353139" cy="57409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algn="ctr" defTabSz="913765">
              <a:lnSpc>
                <a:spcPct val="120000"/>
              </a:lnSpc>
              <a:buSzPct val="25000"/>
              <a:defRPr/>
            </a:pPr>
            <a:r>
              <a:rPr lang="zh-CN" altLang="en-US" sz="1200" dirty="0"/>
              <a:t>面向中餐及亚洲餐厅的 </a:t>
            </a:r>
            <a:r>
              <a:rPr lang="en-US" altLang="zh-CN" sz="1200" dirty="0"/>
              <a:t>AI </a:t>
            </a:r>
            <a:r>
              <a:rPr lang="zh-CN" altLang="en-US" sz="1200" dirty="0"/>
              <a:t>语音点餐系统：自动接听电话、识别中英双语菜单、确认外卖地址并写入 </a:t>
            </a:r>
            <a:r>
              <a:rPr lang="en-US" altLang="zh-CN" sz="1200" dirty="0"/>
              <a:t>POS / </a:t>
            </a:r>
            <a:r>
              <a:rPr lang="zh-CN" altLang="en-US" sz="1200" dirty="0"/>
              <a:t>外卖平台，减少漏单与排队时间，每年节省一名接电话员工的成本。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just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Pct val="25000"/>
              <a:buFontTx/>
              <a:buNone/>
              <a:defRPr/>
            </a:pP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4" name="Text3"/>
          <p:cNvSpPr txBox="1"/>
          <p:nvPr/>
        </p:nvSpPr>
        <p:spPr>
          <a:xfrm>
            <a:off x="8154925" y="5195714"/>
            <a:ext cx="2540820" cy="57409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0" marR="0" lvl="0" indent="0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Pct val="25000"/>
              <a:buFontTx/>
              <a:buNone/>
              <a:defRPr/>
            </a:pP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74684" y="482347"/>
            <a:ext cx="635000" cy="127253"/>
            <a:chOff x="3044090" y="-1193800"/>
            <a:chExt cx="1477110" cy="296010"/>
          </a:xfrm>
          <a:noFill/>
        </p:grpSpPr>
        <p:sp>
          <p:nvSpPr>
            <p:cNvPr id="26" name="椭圆 25"/>
            <p:cNvSpPr/>
            <p:nvPr/>
          </p:nvSpPr>
          <p:spPr>
            <a:xfrm>
              <a:off x="3044090" y="-1193800"/>
              <a:ext cx="296010" cy="296010"/>
            </a:xfrm>
            <a:prstGeom prst="ellipse">
              <a:avLst/>
            </a:prstGeom>
            <a:grp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3634640" y="-1193800"/>
              <a:ext cx="296010" cy="29601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4225190" y="-1193800"/>
              <a:ext cx="296010" cy="296010"/>
            </a:xfrm>
            <a:prstGeom prst="ellipse">
              <a:avLst/>
            </a:prstGeom>
            <a:grp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矩形: 圆角 36"/>
          <p:cNvSpPr/>
          <p:nvPr/>
        </p:nvSpPr>
        <p:spPr>
          <a:xfrm>
            <a:off x="274684" y="5525900"/>
            <a:ext cx="2064070" cy="48780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Eamom</a:t>
            </a:r>
            <a:r>
              <a:rPr lang="en-US" altLang="zh-CN" sz="1400" dirty="0"/>
              <a:t> </a:t>
            </a:r>
            <a:r>
              <a:rPr lang="zh-CN" altLang="en-US" sz="1400" dirty="0"/>
              <a:t>语音科技 </a:t>
            </a:r>
            <a:r>
              <a:rPr lang="en-US" altLang="zh-CN" sz="1400" dirty="0" err="1"/>
              <a:t>Eamom</a:t>
            </a:r>
            <a:r>
              <a:rPr lang="en-US" altLang="zh-CN" sz="1400" dirty="0"/>
              <a:t> Voice AI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2761523" y="5525900"/>
            <a:ext cx="2064070" cy="487808"/>
          </a:xfrm>
          <a:prstGeom prst="roundRect">
            <a:avLst>
              <a:gd name="adj" fmla="val 50000"/>
            </a:avLst>
          </a:prstGeom>
          <a:solidFill>
            <a:schemeClr val="accent1">
              <a:alpha val="16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Date: 2025.12 • San Francisco 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274684" y="482347"/>
            <a:ext cx="635000" cy="127253"/>
            <a:chOff x="3044090" y="-1193800"/>
            <a:chExt cx="1477110" cy="296010"/>
          </a:xfrm>
          <a:noFill/>
        </p:grpSpPr>
        <p:sp>
          <p:nvSpPr>
            <p:cNvPr id="6" name="椭圆 5"/>
            <p:cNvSpPr/>
            <p:nvPr/>
          </p:nvSpPr>
          <p:spPr>
            <a:xfrm>
              <a:off x="3044090" y="-1193800"/>
              <a:ext cx="296010" cy="296010"/>
            </a:xfrm>
            <a:prstGeom prst="ellipse">
              <a:avLst/>
            </a:prstGeom>
            <a:grp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3634640" y="-1193800"/>
              <a:ext cx="296010" cy="29601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4225190" y="-1193800"/>
              <a:ext cx="296010" cy="296010"/>
            </a:xfrm>
            <a:prstGeom prst="ellipse">
              <a:avLst/>
            </a:prstGeom>
            <a:grp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矩形: 对角圆角 8"/>
          <p:cNvSpPr/>
          <p:nvPr/>
        </p:nvSpPr>
        <p:spPr>
          <a:xfrm>
            <a:off x="540155" y="724208"/>
            <a:ext cx="3245852" cy="710333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3765">
              <a:buSzPct val="25000"/>
              <a:defRPr/>
            </a:pPr>
            <a:r>
              <a:rPr lang="zh-CN" altLang="en-US" sz="2800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rPr>
              <a:t>行业大盘</a:t>
            </a:r>
          </a:p>
        </p:txBody>
      </p:sp>
      <p:sp>
        <p:nvSpPr>
          <p:cNvPr id="10" name="矩形: 对角圆角 9"/>
          <p:cNvSpPr/>
          <p:nvPr/>
        </p:nvSpPr>
        <p:spPr>
          <a:xfrm>
            <a:off x="528558" y="2642795"/>
            <a:ext cx="3257448" cy="710333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3765">
              <a:buSzPct val="25000"/>
              <a:defRPr/>
            </a:pPr>
            <a:r>
              <a:rPr lang="zh-CN" altLang="en-US" sz="2800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rPr>
              <a:t>成本模型</a:t>
            </a:r>
          </a:p>
        </p:txBody>
      </p:sp>
      <p:sp>
        <p:nvSpPr>
          <p:cNvPr id="14" name="矩形: 对角圆角 13"/>
          <p:cNvSpPr/>
          <p:nvPr/>
        </p:nvSpPr>
        <p:spPr>
          <a:xfrm>
            <a:off x="572879" y="4615245"/>
            <a:ext cx="3257448" cy="710333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3765">
              <a:buSzPct val="25000"/>
              <a:defRPr/>
            </a:pPr>
            <a:r>
              <a:rPr lang="zh-CN" altLang="en-US" sz="2800" dirty="0"/>
              <a:t>竞品</a:t>
            </a:r>
            <a:r>
              <a:rPr lang="zh-CN" altLang="en-US" sz="2800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rPr>
              <a:t>分析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38310" y="6435690"/>
            <a:ext cx="50135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dirty="0"/>
              <a:t>语音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餐饮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应用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对角圆角 10">
            <a:extLst>
              <a:ext uri="{FF2B5EF4-FFF2-40B4-BE49-F238E27FC236}">
                <a16:creationId xmlns:a16="http://schemas.microsoft.com/office/drawing/2014/main" id="{E7F995B6-ECBA-B44D-2234-DEEFC0F869F6}"/>
              </a:ext>
            </a:extLst>
          </p:cNvPr>
          <p:cNvSpPr/>
          <p:nvPr/>
        </p:nvSpPr>
        <p:spPr>
          <a:xfrm>
            <a:off x="528558" y="1636181"/>
            <a:ext cx="3257448" cy="710333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3765">
              <a:buSzPct val="25000"/>
              <a:defRPr/>
            </a:pPr>
            <a:r>
              <a:rPr lang="zh-CN" altLang="en-US" sz="2800" dirty="0"/>
              <a:t>产品服务</a:t>
            </a:r>
            <a:endParaRPr lang="zh-CN" altLang="en-US" sz="2800" dirty="0">
              <a:latin typeface="思源宋体 CN Heavy" pitchFamily="18" charset="-122"/>
              <a:ea typeface="思源宋体 CN Heavy" pitchFamily="18" charset="-122"/>
              <a:cs typeface="Arial" panose="020B0604020202020204" pitchFamily="34" charset="0"/>
            </a:endParaRPr>
          </a:p>
        </p:txBody>
      </p:sp>
      <p:sp>
        <p:nvSpPr>
          <p:cNvPr id="12" name="矩形: 对角圆角 11">
            <a:extLst>
              <a:ext uri="{FF2B5EF4-FFF2-40B4-BE49-F238E27FC236}">
                <a16:creationId xmlns:a16="http://schemas.microsoft.com/office/drawing/2014/main" id="{D536C70F-A89D-6034-D3B4-918005E78719}"/>
              </a:ext>
            </a:extLst>
          </p:cNvPr>
          <p:cNvSpPr/>
          <p:nvPr/>
        </p:nvSpPr>
        <p:spPr>
          <a:xfrm>
            <a:off x="572879" y="5621859"/>
            <a:ext cx="3257448" cy="710333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3765">
              <a:buSzPct val="25000"/>
              <a:defRPr/>
            </a:pPr>
            <a:r>
              <a:rPr lang="zh-CN" altLang="en-US" sz="2800" dirty="0"/>
              <a:t>业务拓展规划</a:t>
            </a:r>
            <a:endParaRPr lang="zh-CN" altLang="en-US" sz="2800" dirty="0">
              <a:latin typeface="思源宋体 CN Heavy" pitchFamily="18" charset="-122"/>
              <a:ea typeface="思源宋体 CN Heavy" pitchFamily="18" charset="-122"/>
              <a:cs typeface="Arial" panose="020B0604020202020204" pitchFamily="34" charset="0"/>
            </a:endParaRPr>
          </a:p>
        </p:txBody>
      </p:sp>
      <p:sp>
        <p:nvSpPr>
          <p:cNvPr id="17" name="矩形: 对角圆角 16">
            <a:extLst>
              <a:ext uri="{FF2B5EF4-FFF2-40B4-BE49-F238E27FC236}">
                <a16:creationId xmlns:a16="http://schemas.microsoft.com/office/drawing/2014/main" id="{2A30AC70-99BD-8BCB-CB1D-A0C2118A1192}"/>
              </a:ext>
            </a:extLst>
          </p:cNvPr>
          <p:cNvSpPr/>
          <p:nvPr/>
        </p:nvSpPr>
        <p:spPr>
          <a:xfrm>
            <a:off x="540155" y="3649409"/>
            <a:ext cx="3257448" cy="710333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3765">
              <a:buSzPct val="25000"/>
              <a:defRPr/>
            </a:pPr>
            <a:r>
              <a:rPr lang="zh-CN" altLang="en-US" sz="2800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rPr>
              <a:t>市场分析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1" grpId="0" animBg="1"/>
      <p:bldP spid="12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</p:pic>
      <p:grpSp>
        <p:nvGrpSpPr>
          <p:cNvPr id="5" name="组合 4"/>
          <p:cNvGrpSpPr/>
          <p:nvPr/>
        </p:nvGrpSpPr>
        <p:grpSpPr>
          <a:xfrm flipH="1">
            <a:off x="11282316" y="482347"/>
            <a:ext cx="635000" cy="127253"/>
            <a:chOff x="3044090" y="-1193800"/>
            <a:chExt cx="1477110" cy="296010"/>
          </a:xfrm>
          <a:solidFill>
            <a:schemeClr val="accent2"/>
          </a:solidFill>
        </p:grpSpPr>
        <p:sp>
          <p:nvSpPr>
            <p:cNvPr id="6" name="椭圆 5"/>
            <p:cNvSpPr/>
            <p:nvPr/>
          </p:nvSpPr>
          <p:spPr>
            <a:xfrm>
              <a:off x="3044090" y="-1193800"/>
              <a:ext cx="296010" cy="296010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3634640" y="-1193800"/>
              <a:ext cx="296010" cy="296010"/>
            </a:xfrm>
            <a:prstGeom prst="ellipse">
              <a:avLst/>
            </a:prstGeom>
            <a:grp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4225190" y="-1193800"/>
              <a:ext cx="296010" cy="296010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Bullet1"/>
          <p:cNvSpPr txBox="1"/>
          <p:nvPr/>
        </p:nvSpPr>
        <p:spPr bwMode="auto">
          <a:xfrm>
            <a:off x="4705105" y="3095280"/>
            <a:ext cx="8418651" cy="5760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 defTabSz="913765">
              <a:buSzPct val="25000"/>
              <a:defRPr/>
            </a:pPr>
            <a:r>
              <a:rPr lang="zh-CN" altLang="en-US" sz="8800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rPr>
              <a:t>行业大盘</a:t>
            </a:r>
          </a:p>
        </p:txBody>
      </p:sp>
      <p:sp>
        <p:nvSpPr>
          <p:cNvPr id="11" name="Number1"/>
          <p:cNvSpPr/>
          <p:nvPr/>
        </p:nvSpPr>
        <p:spPr>
          <a:xfrm>
            <a:off x="8194430" y="1819680"/>
            <a:ext cx="1440001" cy="613425"/>
          </a:xfrm>
          <a:prstGeom prst="round2DiagRect">
            <a:avLst>
              <a:gd name="adj1" fmla="val 0"/>
              <a:gd name="adj2" fmla="val 35305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ffectLst>
            <a:outerShdw blurRad="190500" dist="63500" dir="5400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 anchorCtr="0">
            <a:normAutofit/>
          </a:bodyPr>
          <a:lstStyle/>
          <a:p>
            <a:pPr algn="ctr"/>
            <a:r>
              <a:rPr kumimoji="1" lang="en-US" altLang="zh-CN" sz="24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</a:p>
        </p:txBody>
      </p:sp>
      <p:sp>
        <p:nvSpPr>
          <p:cNvPr id="12" name="Text1"/>
          <p:cNvSpPr txBox="1"/>
          <p:nvPr/>
        </p:nvSpPr>
        <p:spPr>
          <a:xfrm>
            <a:off x="6451546" y="4166130"/>
            <a:ext cx="5211897" cy="9675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algn="ctr" defTabSz="913765">
              <a:lnSpc>
                <a:spcPct val="120000"/>
              </a:lnSpc>
              <a:buSzPct val="25000"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语音 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 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正在从客服、车载走向餐饮等线下高频场景。全球语音与语音识别市场已达数百亿美元规模，餐饮 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 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在其中增速最快之一。我们聚焦“语音点餐 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 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中餐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亚洲餐厅”这一细分赛道。</a:t>
            </a:r>
          </a:p>
          <a:p>
            <a:pPr algn="ctr" defTabSz="913765">
              <a:lnSpc>
                <a:spcPct val="120000"/>
              </a:lnSpc>
              <a:buSzPct val="25000"/>
              <a:defRPr/>
            </a:pP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ctr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Pct val="25000"/>
              <a:buFontTx/>
              <a:buNone/>
              <a:defRPr/>
            </a:pP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03720" y="6284212"/>
            <a:ext cx="50135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dirty="0"/>
              <a:t>语音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餐饮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应用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umber1"/>
          <p:cNvSpPr/>
          <p:nvPr/>
        </p:nvSpPr>
        <p:spPr>
          <a:xfrm>
            <a:off x="456861" y="373620"/>
            <a:ext cx="903850" cy="613425"/>
          </a:xfrm>
          <a:prstGeom prst="round2DiagRect">
            <a:avLst>
              <a:gd name="adj1" fmla="val 0"/>
              <a:gd name="adj2" fmla="val 35305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ffectLst>
            <a:outerShdw blurRad="190500" dist="63500" dir="5400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 anchorCtr="0">
            <a:normAutofit/>
          </a:bodyPr>
          <a:lstStyle/>
          <a:p>
            <a:pPr algn="ctr"/>
            <a:r>
              <a:rPr kumimoji="1" lang="en-US" altLang="zh-CN" sz="24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B9A257E-09AA-052D-B26B-9A22D8C1EF07}"/>
              </a:ext>
            </a:extLst>
          </p:cNvPr>
          <p:cNvSpPr txBox="1"/>
          <p:nvPr/>
        </p:nvSpPr>
        <p:spPr>
          <a:xfrm>
            <a:off x="1409236" y="418722"/>
            <a:ext cx="93735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/>
              <a:t>语音 </a:t>
            </a:r>
            <a:r>
              <a:rPr lang="en-US" altLang="zh-CN" sz="2800" b="1" dirty="0"/>
              <a:t>Agent </a:t>
            </a:r>
            <a:r>
              <a:rPr lang="zh-CN" altLang="en-US" sz="2800" b="1" dirty="0"/>
              <a:t>处在数百亿美元级的语音 </a:t>
            </a:r>
            <a:r>
              <a:rPr lang="en-US" altLang="zh-CN" sz="2800" b="1" dirty="0"/>
              <a:t>AI / </a:t>
            </a:r>
            <a:r>
              <a:rPr lang="zh-CN" altLang="en-US" sz="2800" b="1" dirty="0"/>
              <a:t>餐饮 </a:t>
            </a:r>
            <a:r>
              <a:rPr lang="en-US" altLang="zh-CN" sz="2800" b="1" dirty="0"/>
              <a:t>AI </a:t>
            </a:r>
            <a:r>
              <a:rPr lang="zh-CN" altLang="en-US" sz="2800" b="1" dirty="0"/>
              <a:t>大盘之中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C920954-D898-6EB0-A82C-711814EF5252}"/>
              </a:ext>
            </a:extLst>
          </p:cNvPr>
          <p:cNvSpPr txBox="1"/>
          <p:nvPr/>
        </p:nvSpPr>
        <p:spPr>
          <a:xfrm>
            <a:off x="908786" y="1399480"/>
            <a:ext cx="97602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· </a:t>
            </a:r>
            <a:r>
              <a:rPr lang="zh-CN" altLang="en-US" dirty="0"/>
              <a:t>全球语音与语音识别市场预计在 </a:t>
            </a:r>
            <a:r>
              <a:rPr lang="en-US" altLang="zh-CN" dirty="0"/>
              <a:t>2025 </a:t>
            </a:r>
            <a:r>
              <a:rPr lang="zh-CN" altLang="en-US" dirty="0"/>
              <a:t>年达到约 </a:t>
            </a:r>
            <a:r>
              <a:rPr lang="en-US" altLang="zh-CN" dirty="0"/>
              <a:t>268 </a:t>
            </a:r>
            <a:r>
              <a:rPr lang="zh-CN" altLang="en-US" dirty="0"/>
              <a:t>亿美元，是所有语音 </a:t>
            </a:r>
            <a:r>
              <a:rPr lang="en-US" altLang="zh-CN" dirty="0"/>
              <a:t>Agent </a:t>
            </a:r>
            <a:r>
              <a:rPr lang="zh-CN" altLang="en-US" dirty="0"/>
              <a:t>的技术底座。</a:t>
            </a:r>
          </a:p>
          <a:p>
            <a:endParaRPr lang="zh-CN" altLang="en-US" dirty="0"/>
          </a:p>
          <a:p>
            <a:r>
              <a:rPr lang="en-US" altLang="zh-CN" dirty="0"/>
              <a:t>· </a:t>
            </a:r>
            <a:r>
              <a:rPr lang="zh-CN" altLang="en-US" dirty="0"/>
              <a:t>面向餐饮、客服等场景的 </a:t>
            </a:r>
            <a:r>
              <a:rPr lang="en-US" altLang="zh-CN" dirty="0"/>
              <a:t>AI Phone / Voice Tech </a:t>
            </a:r>
            <a:r>
              <a:rPr lang="zh-CN" altLang="en-US" dirty="0"/>
              <a:t>行业，预计到 </a:t>
            </a:r>
            <a:r>
              <a:rPr lang="en-US" altLang="zh-CN" dirty="0"/>
              <a:t>2029 </a:t>
            </a:r>
            <a:r>
              <a:rPr lang="zh-CN" altLang="en-US" dirty="0"/>
              <a:t>年整体市场规模可达约 </a:t>
            </a:r>
            <a:r>
              <a:rPr lang="en-US" altLang="zh-CN" dirty="0"/>
              <a:t>500 </a:t>
            </a:r>
            <a:r>
              <a:rPr lang="zh-CN" altLang="en-US" dirty="0"/>
              <a:t>亿美元。</a:t>
            </a:r>
          </a:p>
          <a:p>
            <a:endParaRPr lang="zh-CN" altLang="en-US" dirty="0"/>
          </a:p>
          <a:p>
            <a:r>
              <a:rPr lang="en-US" altLang="zh-CN" dirty="0"/>
              <a:t>· </a:t>
            </a:r>
            <a:r>
              <a:rPr lang="zh-CN" altLang="en-US" dirty="0"/>
              <a:t>食品与饮料领域的 </a:t>
            </a:r>
            <a:r>
              <a:rPr lang="en-US" altLang="zh-CN" dirty="0"/>
              <a:t>AI </a:t>
            </a:r>
            <a:r>
              <a:rPr lang="zh-CN" altLang="en-US" dirty="0"/>
              <a:t>市场 </a:t>
            </a:r>
            <a:r>
              <a:rPr lang="en-US" altLang="zh-CN" dirty="0"/>
              <a:t>2025 </a:t>
            </a:r>
            <a:r>
              <a:rPr lang="zh-CN" altLang="en-US" dirty="0"/>
              <a:t>年约 </a:t>
            </a:r>
            <a:r>
              <a:rPr lang="en-US" altLang="zh-CN" dirty="0"/>
              <a:t>96.8 </a:t>
            </a:r>
            <a:r>
              <a:rPr lang="zh-CN" altLang="en-US" dirty="0"/>
              <a:t>亿美元，五年内有望增长到 </a:t>
            </a:r>
            <a:r>
              <a:rPr lang="en-US" altLang="zh-CN" dirty="0"/>
              <a:t>490 </a:t>
            </a:r>
            <a:r>
              <a:rPr lang="zh-CN" altLang="en-US" dirty="0"/>
              <a:t>亿美元，</a:t>
            </a:r>
          </a:p>
          <a:p>
            <a:r>
              <a:rPr lang="zh-CN" altLang="en-US" dirty="0"/>
              <a:t>  其中包含排班预测、库存优化以及语音点餐等多个子方向。</a:t>
            </a:r>
          </a:p>
          <a:p>
            <a:endParaRPr lang="zh-CN" altLang="en-US" dirty="0"/>
          </a:p>
          <a:p>
            <a:r>
              <a:rPr lang="en-US" altLang="zh-CN" dirty="0"/>
              <a:t>· </a:t>
            </a:r>
            <a:r>
              <a:rPr lang="zh-CN" altLang="en-US" dirty="0"/>
              <a:t>换句话说，语音 </a:t>
            </a:r>
            <a:r>
              <a:rPr lang="en-US" altLang="zh-CN" dirty="0"/>
              <a:t>Agent </a:t>
            </a:r>
            <a:r>
              <a:rPr lang="zh-CN" altLang="en-US" dirty="0"/>
              <a:t>并不是一个“孤立的小工具”，而是立足于数百亿美元级</a:t>
            </a:r>
          </a:p>
          <a:p>
            <a:r>
              <a:rPr lang="zh-CN" altLang="en-US" dirty="0"/>
              <a:t>  的语音 </a:t>
            </a:r>
            <a:r>
              <a:rPr lang="en-US" altLang="zh-CN" dirty="0"/>
              <a:t>AI / </a:t>
            </a:r>
            <a:r>
              <a:rPr lang="zh-CN" altLang="en-US" dirty="0"/>
              <a:t>餐饮 </a:t>
            </a:r>
            <a:r>
              <a:rPr lang="en-US" altLang="zh-CN" dirty="0"/>
              <a:t>AI </a:t>
            </a:r>
            <a:r>
              <a:rPr lang="zh-CN" altLang="en-US" dirty="0"/>
              <a:t>大盘之上的关键应用形态。</a:t>
            </a:r>
          </a:p>
          <a:p>
            <a:endParaRPr lang="en-US" altLang="zh-CN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F9452C7-167B-0FED-76AE-19EFC4CA063D}"/>
              </a:ext>
            </a:extLst>
          </p:cNvPr>
          <p:cNvSpPr txBox="1"/>
          <p:nvPr/>
        </p:nvSpPr>
        <p:spPr>
          <a:xfrm>
            <a:off x="908786" y="4906134"/>
            <a:ext cx="7050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语音 Agent 正在从“技术演示”走向“真实生意”，是语音 AI、餐饮 AI 大盘里最有机会直接连接订单和现金流的入口</a:t>
            </a:r>
            <a:r>
              <a:rPr lang="zh-CN" altLang="en-US" sz="2400" dirty="0"/>
              <a:t>。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86624C1C-2AAE-1390-5E1C-9A2962EC35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6" t="8637" r="9034" b="9385"/>
          <a:stretch>
            <a:fillRect/>
          </a:stretch>
        </p:blipFill>
        <p:spPr>
          <a:xfrm>
            <a:off x="8955463" y="3429000"/>
            <a:ext cx="2776241" cy="278367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456861" y="373620"/>
            <a:ext cx="11278278" cy="625104"/>
            <a:chOff x="456861" y="373620"/>
            <a:chExt cx="11278278" cy="625104"/>
          </a:xfrm>
        </p:grpSpPr>
        <p:sp>
          <p:nvSpPr>
            <p:cNvPr id="11" name="Bullet1"/>
            <p:cNvSpPr txBox="1"/>
            <p:nvPr/>
          </p:nvSpPr>
          <p:spPr bwMode="auto">
            <a:xfrm>
              <a:off x="1435299" y="422724"/>
              <a:ext cx="10299840" cy="57600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defTabSz="913765">
                <a:buSzPct val="25000"/>
                <a:defRPr/>
              </a:pPr>
              <a:r>
                <a:rPr lang="zh-CN" altLang="en-US" sz="2800" b="1" dirty="0"/>
                <a:t>点餐语音 </a:t>
              </a:r>
              <a:r>
                <a:rPr lang="en-US" altLang="zh-CN" sz="2800" b="1" dirty="0"/>
                <a:t>Agent</a:t>
              </a:r>
              <a:r>
                <a:rPr lang="zh-CN" altLang="en-US" sz="2800" b="1" dirty="0"/>
                <a:t>：渗透率仍在个位数，中餐外送是蓝海</a:t>
              </a:r>
              <a:endParaRPr lang="zh-CN" altLang="en-US" sz="2800" b="1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endParaRPr>
            </a:p>
          </p:txBody>
        </p:sp>
        <p:sp>
          <p:nvSpPr>
            <p:cNvPr id="12" name="Number1"/>
            <p:cNvSpPr/>
            <p:nvPr/>
          </p:nvSpPr>
          <p:spPr>
            <a:xfrm>
              <a:off x="456861" y="373620"/>
              <a:ext cx="903850" cy="613425"/>
            </a:xfrm>
            <a:prstGeom prst="round2DiagRect">
              <a:avLst>
                <a:gd name="adj1" fmla="val 0"/>
                <a:gd name="adj2" fmla="val 35305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90500" dist="635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01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4335AB4E-69BD-2634-1AEC-A6952F5774C6}"/>
              </a:ext>
            </a:extLst>
          </p:cNvPr>
          <p:cNvSpPr txBox="1"/>
          <p:nvPr/>
        </p:nvSpPr>
        <p:spPr>
          <a:xfrm>
            <a:off x="847460" y="1276020"/>
            <a:ext cx="102998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· </a:t>
            </a:r>
            <a:r>
              <a:rPr lang="zh-CN" altLang="en-US" dirty="0"/>
              <a:t>目前全球“已上线语音点餐”的餐厅大致在 </a:t>
            </a:r>
            <a:r>
              <a:rPr lang="en-US" altLang="zh-CN" dirty="0"/>
              <a:t>2–3 </a:t>
            </a:r>
            <a:r>
              <a:rPr lang="zh-CN" altLang="en-US" dirty="0"/>
              <a:t>万家级别，主要集中在北美 </a:t>
            </a:r>
            <a:r>
              <a:rPr lang="en-US" altLang="zh-CN" dirty="0"/>
              <a:t>QSR</a:t>
            </a:r>
          </a:p>
          <a:p>
            <a:r>
              <a:rPr lang="en-US" altLang="zh-CN" dirty="0"/>
              <a:t>  </a:t>
            </a:r>
            <a:r>
              <a:rPr lang="zh-CN" altLang="en-US" dirty="0"/>
              <a:t>（快餐连锁）的 </a:t>
            </a:r>
            <a:r>
              <a:rPr lang="en-US" altLang="zh-CN" dirty="0"/>
              <a:t>drive-thru </a:t>
            </a:r>
            <a:r>
              <a:rPr lang="zh-CN" altLang="en-US" dirty="0"/>
              <a:t>与电话点餐场景。</a:t>
            </a:r>
          </a:p>
          <a:p>
            <a:endParaRPr lang="zh-CN" altLang="en-US" dirty="0"/>
          </a:p>
          <a:p>
            <a:r>
              <a:rPr lang="en-US" altLang="zh-CN" dirty="0"/>
              <a:t>· </a:t>
            </a:r>
            <a:r>
              <a:rPr lang="zh-CN" altLang="en-US" dirty="0"/>
              <a:t>代表性玩家：</a:t>
            </a:r>
            <a:r>
              <a:rPr lang="en-US" altLang="zh-CN" dirty="0" err="1"/>
              <a:t>SoundHound</a:t>
            </a:r>
            <a:r>
              <a:rPr lang="en-US" altLang="zh-CN" dirty="0"/>
              <a:t> </a:t>
            </a:r>
            <a:r>
              <a:rPr lang="zh-CN" altLang="en-US" dirty="0"/>
              <a:t>已在 </a:t>
            </a:r>
            <a:r>
              <a:rPr lang="en-US" altLang="zh-CN" dirty="0"/>
              <a:t>1 </a:t>
            </a:r>
            <a:r>
              <a:rPr lang="zh-CN" altLang="en-US" dirty="0"/>
              <a:t>万</a:t>
            </a:r>
            <a:r>
              <a:rPr lang="en-US" altLang="zh-CN" dirty="0"/>
              <a:t>+ </a:t>
            </a:r>
            <a:r>
              <a:rPr lang="zh-CN" altLang="en-US" dirty="0"/>
              <a:t>家餐厅部署语音 </a:t>
            </a:r>
            <a:r>
              <a:rPr lang="en-US" altLang="zh-CN" dirty="0"/>
              <a:t>AI</a:t>
            </a:r>
            <a:r>
              <a:rPr lang="zh-CN" altLang="en-US" dirty="0"/>
              <a:t>；</a:t>
            </a:r>
            <a:r>
              <a:rPr lang="en-US" altLang="zh-CN" dirty="0"/>
              <a:t>Wendy’s</a:t>
            </a:r>
            <a:r>
              <a:rPr lang="zh-CN" altLang="en-US" dirty="0"/>
              <a:t>、</a:t>
            </a:r>
            <a:r>
              <a:rPr lang="en-US" altLang="zh-CN" dirty="0"/>
              <a:t>Yum! </a:t>
            </a:r>
            <a:r>
              <a:rPr lang="zh-CN" altLang="en-US" dirty="0"/>
              <a:t>等品牌</a:t>
            </a:r>
          </a:p>
          <a:p>
            <a:r>
              <a:rPr lang="zh-CN" altLang="en-US" dirty="0"/>
              <a:t>  计划在数百家门店试点或推广 </a:t>
            </a:r>
            <a:r>
              <a:rPr lang="en-US" altLang="zh-CN" dirty="0"/>
              <a:t>AI </a:t>
            </a:r>
            <a:r>
              <a:rPr lang="zh-CN" altLang="en-US" dirty="0"/>
              <a:t>点餐系统。</a:t>
            </a:r>
          </a:p>
          <a:p>
            <a:endParaRPr lang="zh-CN" altLang="en-US" dirty="0"/>
          </a:p>
          <a:p>
            <a:r>
              <a:rPr lang="en-US" altLang="zh-CN" dirty="0"/>
              <a:t>· </a:t>
            </a:r>
            <a:r>
              <a:rPr lang="zh-CN" altLang="en-US" dirty="0"/>
              <a:t>对比全美餐厅总量以及约 </a:t>
            </a:r>
            <a:r>
              <a:rPr lang="en-US" altLang="zh-CN" dirty="0"/>
              <a:t>9–10 </a:t>
            </a:r>
            <a:r>
              <a:rPr lang="zh-CN" altLang="en-US" dirty="0"/>
              <a:t>万家亚洲餐厅，这一渗透率仍然只是个位数，</a:t>
            </a:r>
          </a:p>
          <a:p>
            <a:r>
              <a:rPr lang="zh-CN" altLang="en-US" dirty="0"/>
              <a:t>  绝大多数中小门店尚未被覆盖。</a:t>
            </a:r>
          </a:p>
          <a:p>
            <a:endParaRPr lang="zh-CN" altLang="en-US" dirty="0"/>
          </a:p>
          <a:p>
            <a:r>
              <a:rPr lang="en-US" altLang="zh-CN" dirty="0"/>
              <a:t>· </a:t>
            </a:r>
            <a:r>
              <a:rPr lang="zh-CN" altLang="en-US" dirty="0"/>
              <a:t>尤其是在中餐外送 </a:t>
            </a:r>
            <a:r>
              <a:rPr lang="en-US" altLang="zh-CN" dirty="0"/>
              <a:t>/ </a:t>
            </a:r>
            <a:r>
              <a:rPr lang="zh-CN" altLang="en-US" dirty="0"/>
              <a:t>电话点餐这一细分市场，现有解决方案几乎全部聚焦于快餐大连锁，</a:t>
            </a:r>
          </a:p>
          <a:p>
            <a:r>
              <a:rPr lang="zh-CN" altLang="en-US" dirty="0"/>
              <a:t>  华人中小餐厅基本处于“无人服务”的状态。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CB211D9-6391-6A12-0893-0E0B7F3F83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7625" y="4158492"/>
            <a:ext cx="3287681" cy="241224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F887B74-4E9E-AEE3-5547-CB1B7337DB83}"/>
              </a:ext>
            </a:extLst>
          </p:cNvPr>
          <p:cNvSpPr txBox="1"/>
          <p:nvPr/>
        </p:nvSpPr>
        <p:spPr>
          <a:xfrm>
            <a:off x="806694" y="5001072"/>
            <a:ext cx="67378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语音点餐的技术已经被验证，但只服务到了少数大连锁餐厅——</a:t>
            </a:r>
          </a:p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中餐外送和华人中小门店，才是目前几乎空白的增量市场。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D7341-8502-F678-FE68-48339FF99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DD1C943-31EF-6075-EDBE-626989412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C93A43B3-F88D-ADA2-0EFB-A1E805D50767}"/>
              </a:ext>
            </a:extLst>
          </p:cNvPr>
          <p:cNvGrpSpPr/>
          <p:nvPr/>
        </p:nvGrpSpPr>
        <p:grpSpPr>
          <a:xfrm flipH="1">
            <a:off x="11282316" y="482347"/>
            <a:ext cx="635000" cy="127253"/>
            <a:chOff x="3044090" y="-1193800"/>
            <a:chExt cx="1477110" cy="296010"/>
          </a:xfrm>
          <a:solidFill>
            <a:schemeClr val="accent2"/>
          </a:solidFill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604E74DE-6F46-4163-08E4-58B7D3B3F06C}"/>
                </a:ext>
              </a:extLst>
            </p:cNvPr>
            <p:cNvSpPr/>
            <p:nvPr/>
          </p:nvSpPr>
          <p:spPr>
            <a:xfrm>
              <a:off x="3044090" y="-1193800"/>
              <a:ext cx="296010" cy="296010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27AACC2B-6A96-4916-1F26-434F2E997CBC}"/>
                </a:ext>
              </a:extLst>
            </p:cNvPr>
            <p:cNvSpPr/>
            <p:nvPr/>
          </p:nvSpPr>
          <p:spPr>
            <a:xfrm>
              <a:off x="3634640" y="-1193800"/>
              <a:ext cx="296010" cy="296010"/>
            </a:xfrm>
            <a:prstGeom prst="ellipse">
              <a:avLst/>
            </a:prstGeom>
            <a:grp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E5CE467-0514-4288-F56A-984065A87132}"/>
                </a:ext>
              </a:extLst>
            </p:cNvPr>
            <p:cNvSpPr/>
            <p:nvPr/>
          </p:nvSpPr>
          <p:spPr>
            <a:xfrm>
              <a:off x="4225190" y="-1193800"/>
              <a:ext cx="296010" cy="296010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Bullet1">
            <a:extLst>
              <a:ext uri="{FF2B5EF4-FFF2-40B4-BE49-F238E27FC236}">
                <a16:creationId xmlns:a16="http://schemas.microsoft.com/office/drawing/2014/main" id="{73C28E7C-C5B0-A3B0-F3CA-944ADE79EB67}"/>
              </a:ext>
            </a:extLst>
          </p:cNvPr>
          <p:cNvSpPr txBox="1"/>
          <p:nvPr/>
        </p:nvSpPr>
        <p:spPr bwMode="auto">
          <a:xfrm>
            <a:off x="4705105" y="3095280"/>
            <a:ext cx="8418651" cy="5760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 defTabSz="913765">
              <a:buSzPct val="25000"/>
              <a:defRPr/>
            </a:pPr>
            <a:r>
              <a:rPr lang="zh-CN" altLang="en-US" sz="8800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rPr>
              <a:t>产品服务</a:t>
            </a:r>
          </a:p>
        </p:txBody>
      </p:sp>
      <p:sp>
        <p:nvSpPr>
          <p:cNvPr id="11" name="Number1">
            <a:extLst>
              <a:ext uri="{FF2B5EF4-FFF2-40B4-BE49-F238E27FC236}">
                <a16:creationId xmlns:a16="http://schemas.microsoft.com/office/drawing/2014/main" id="{9A9A5EBC-6B26-09AE-4080-A7381B00F65F}"/>
              </a:ext>
            </a:extLst>
          </p:cNvPr>
          <p:cNvSpPr/>
          <p:nvPr/>
        </p:nvSpPr>
        <p:spPr>
          <a:xfrm>
            <a:off x="8194430" y="1819680"/>
            <a:ext cx="1440001" cy="613425"/>
          </a:xfrm>
          <a:prstGeom prst="round2DiagRect">
            <a:avLst>
              <a:gd name="adj1" fmla="val 0"/>
              <a:gd name="adj2" fmla="val 35305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ffectLst>
            <a:outerShdw blurRad="190500" dist="63500" dir="5400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 anchorCtr="0">
            <a:normAutofit/>
          </a:bodyPr>
          <a:lstStyle/>
          <a:p>
            <a:pPr algn="ctr"/>
            <a:r>
              <a:rPr kumimoji="1" lang="en-US" altLang="zh-CN" sz="2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1CED939-6B29-DB20-C101-EE1E4C29850C}"/>
              </a:ext>
            </a:extLst>
          </p:cNvPr>
          <p:cNvSpPr txBox="1"/>
          <p:nvPr/>
        </p:nvSpPr>
        <p:spPr>
          <a:xfrm>
            <a:off x="6903720" y="6284212"/>
            <a:ext cx="50135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dirty="0"/>
              <a:t>语音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餐饮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应用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EDFD1B-5FD5-48CF-DE54-92D72CF67131}"/>
              </a:ext>
            </a:extLst>
          </p:cNvPr>
          <p:cNvSpPr txBox="1"/>
          <p:nvPr/>
        </p:nvSpPr>
        <p:spPr>
          <a:xfrm>
            <a:off x="6278250" y="4252785"/>
            <a:ext cx="5809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本产品是一套面向中餐及亚洲餐厅的 </a:t>
            </a:r>
            <a:r>
              <a:rPr lang="en-US" altLang="zh-CN" sz="1200" b="1" dirty="0"/>
              <a:t>AI </a:t>
            </a:r>
            <a:r>
              <a:rPr lang="zh-CN" altLang="en-US" sz="1200" b="1" dirty="0"/>
              <a:t>语音点餐系统</a:t>
            </a:r>
            <a:r>
              <a:rPr lang="zh-CN" altLang="en-US" sz="1200" dirty="0"/>
              <a:t>。通过替代人工接电话岗位，帮助门店减少漏单和占线，在不增加人手的前提下提升接单效率和营业收入。</a:t>
            </a:r>
          </a:p>
        </p:txBody>
      </p:sp>
    </p:spTree>
    <p:extLst>
      <p:ext uri="{BB962C8B-B14F-4D97-AF65-F5344CB8AC3E}">
        <p14:creationId xmlns:p14="http://schemas.microsoft.com/office/powerpoint/2010/main" val="1316737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D9709-E9F8-46F7-7D64-835EC95E4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44A851B1-76C5-465B-52FA-C3805151433B}"/>
              </a:ext>
            </a:extLst>
          </p:cNvPr>
          <p:cNvGrpSpPr/>
          <p:nvPr/>
        </p:nvGrpSpPr>
        <p:grpSpPr>
          <a:xfrm>
            <a:off x="456861" y="373620"/>
            <a:ext cx="11278278" cy="625104"/>
            <a:chOff x="456861" y="373620"/>
            <a:chExt cx="11278278" cy="625104"/>
          </a:xfrm>
        </p:grpSpPr>
        <p:sp>
          <p:nvSpPr>
            <p:cNvPr id="11" name="Bullet1">
              <a:extLst>
                <a:ext uri="{FF2B5EF4-FFF2-40B4-BE49-F238E27FC236}">
                  <a16:creationId xmlns:a16="http://schemas.microsoft.com/office/drawing/2014/main" id="{D91ADBC4-6818-0A1D-FF6D-F1D45DCE50BD}"/>
                </a:ext>
              </a:extLst>
            </p:cNvPr>
            <p:cNvSpPr txBox="1"/>
            <p:nvPr/>
          </p:nvSpPr>
          <p:spPr bwMode="auto">
            <a:xfrm>
              <a:off x="1435299" y="422724"/>
              <a:ext cx="10299840" cy="57600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defTabSz="913765">
                <a:buSzPct val="25000"/>
                <a:defRPr/>
              </a:pPr>
              <a:r>
                <a:rPr lang="zh-CN" altLang="en-US" sz="2800" b="1" dirty="0"/>
                <a:t>产品与服务概览</a:t>
              </a:r>
              <a:br>
                <a:rPr lang="zh-CN" altLang="en-US" sz="2800" dirty="0"/>
              </a:br>
              <a:r>
                <a:rPr lang="en-US" altLang="zh-CN" sz="2800" b="1" dirty="0"/>
                <a:t>Product overview &amp; value proposition</a:t>
              </a:r>
              <a:endParaRPr lang="zh-CN" altLang="en-US" sz="2800" b="1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endParaRPr>
            </a:p>
          </p:txBody>
        </p:sp>
        <p:sp>
          <p:nvSpPr>
            <p:cNvPr id="12" name="Number1">
              <a:extLst>
                <a:ext uri="{FF2B5EF4-FFF2-40B4-BE49-F238E27FC236}">
                  <a16:creationId xmlns:a16="http://schemas.microsoft.com/office/drawing/2014/main" id="{6B4423AE-1721-5ABC-CA3B-1ED9376FCD81}"/>
                </a:ext>
              </a:extLst>
            </p:cNvPr>
            <p:cNvSpPr/>
            <p:nvPr/>
          </p:nvSpPr>
          <p:spPr>
            <a:xfrm>
              <a:off x="456861" y="373620"/>
              <a:ext cx="903850" cy="613425"/>
            </a:xfrm>
            <a:prstGeom prst="round2DiagRect">
              <a:avLst>
                <a:gd name="adj1" fmla="val 0"/>
                <a:gd name="adj2" fmla="val 35305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90500" dist="635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kumimoji="1"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02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30B04C47-33FD-5AB3-58B7-993D5457BDA6}"/>
              </a:ext>
            </a:extLst>
          </p:cNvPr>
          <p:cNvSpPr txBox="1"/>
          <p:nvPr/>
        </p:nvSpPr>
        <p:spPr>
          <a:xfrm>
            <a:off x="2821757" y="5896562"/>
            <a:ext cx="67378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让 </a:t>
            </a:r>
            <a:r>
              <a:rPr lang="en-US" altLang="zh-CN" sz="2400" b="1" dirty="0">
                <a:solidFill>
                  <a:srgbClr val="C00000"/>
                </a:solidFill>
              </a:rPr>
              <a:t>AI </a:t>
            </a:r>
            <a:r>
              <a:rPr lang="zh-CN" altLang="en-US" sz="2400" b="1" dirty="0">
                <a:solidFill>
                  <a:srgbClr val="C00000"/>
                </a:solidFill>
              </a:rPr>
              <a:t>帮餐厅接电话、记订单、进系统，老板和员工专心做出餐和服务顾客。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87EE6C-0B5F-E3E5-65D4-FE88F6E6E210}"/>
              </a:ext>
            </a:extLst>
          </p:cNvPr>
          <p:cNvSpPr txBox="1"/>
          <p:nvPr/>
        </p:nvSpPr>
        <p:spPr>
          <a:xfrm>
            <a:off x="908786" y="1095248"/>
            <a:ext cx="846145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· 我们做什么？</a:t>
            </a:r>
          </a:p>
          <a:p>
            <a:r>
              <a:rPr lang="zh-CN" altLang="en-US" dirty="0"/>
              <a:t>  为北美中餐及亚洲餐厅提供一套「AI 语音点餐系统」，替代人工接听电话、</a:t>
            </a:r>
          </a:p>
          <a:p>
            <a:r>
              <a:rPr lang="zh-CN" altLang="en-US" dirty="0"/>
              <a:t>  记录订单并写入 POS / 外卖平台。</a:t>
            </a:r>
          </a:p>
          <a:p>
            <a:endParaRPr lang="zh-CN" altLang="en-US" dirty="0"/>
          </a:p>
          <a:p>
            <a:r>
              <a:rPr lang="zh-CN" altLang="en-US" dirty="0"/>
              <a:t>· 核心场景：</a:t>
            </a:r>
          </a:p>
          <a:p>
            <a:r>
              <a:rPr lang="zh-CN" altLang="en-US" dirty="0"/>
              <a:t>  顾客拨打餐厅电话 → AI 自动接听 → 中英双语沟通菜单和地址 →</a:t>
            </a:r>
          </a:p>
          <a:p>
            <a:r>
              <a:rPr lang="zh-CN" altLang="en-US" dirty="0"/>
              <a:t>  自动生成订单 → 同步到 POS / 外卖平台，并给顾客发短信确认。</a:t>
            </a:r>
          </a:p>
          <a:p>
            <a:endParaRPr lang="zh-CN" altLang="en-US" dirty="0"/>
          </a:p>
          <a:p>
            <a:r>
              <a:rPr lang="zh-CN" altLang="en-US" dirty="0"/>
              <a:t>· 目标客户：</a:t>
            </a:r>
          </a:p>
          <a:p>
            <a:r>
              <a:rPr lang="zh-CN" altLang="en-US" dirty="0"/>
              <a:t>  以中小型中餐外送店为主，覆盖寿司、泰餐、越南粉等亚洲餐厅，</a:t>
            </a:r>
          </a:p>
          <a:p>
            <a:r>
              <a:rPr lang="zh-CN" altLang="en-US" dirty="0"/>
              <a:t>  重点是电话和外送订单占比高、人手紧张的门店。</a:t>
            </a:r>
          </a:p>
          <a:p>
            <a:endParaRPr lang="zh-CN" altLang="en-US" dirty="0"/>
          </a:p>
          <a:p>
            <a:r>
              <a:rPr lang="zh-CN" altLang="en-US" dirty="0"/>
              <a:t>· 价值主张（对老板）：</a:t>
            </a:r>
          </a:p>
          <a:p>
            <a:r>
              <a:rPr lang="zh-CN" altLang="en-US" dirty="0"/>
              <a:t>  - 省人：每家店相当于减少 1 个全职接电话岗位，年节省约 $3–4 万美元。</a:t>
            </a:r>
          </a:p>
          <a:p>
            <a:r>
              <a:rPr lang="zh-CN" altLang="en-US" dirty="0"/>
              <a:t>  - 省心：不再为招聘、培训、员工流动发愁，高峰期不漏接电话。</a:t>
            </a:r>
          </a:p>
          <a:p>
            <a:r>
              <a:rPr lang="zh-CN" altLang="en-US" dirty="0"/>
              <a:t>  - 提效率：接单速度更快，不被现场顾客和电话同时打断。</a:t>
            </a:r>
          </a:p>
          <a:p>
            <a:r>
              <a:rPr lang="zh-CN" altLang="en-US" dirty="0"/>
              <a:t>  - 提体验：统一话术，中英文都能服务，顾客体验更稳定。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616202-EAC0-B656-0622-A4E7BB158CA1}"/>
              </a:ext>
            </a:extLst>
          </p:cNvPr>
          <p:cNvSpPr txBox="1"/>
          <p:nvPr/>
        </p:nvSpPr>
        <p:spPr>
          <a:xfrm>
            <a:off x="8637310" y="2644170"/>
            <a:ext cx="29765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PS. </a:t>
            </a:r>
            <a:r>
              <a:rPr lang="zh-CN" altLang="en-US" sz="1600" dirty="0"/>
              <a:t>中间放一张流程线框图</a:t>
            </a:r>
            <a:r>
              <a:rPr lang="en-US" altLang="zh-CN" sz="1600" dirty="0"/>
              <a:t>/</a:t>
            </a:r>
            <a:r>
              <a:rPr lang="zh-CN" altLang="en-US" sz="1600" dirty="0"/>
              <a:t>示意图：电话图标 → 机器人头像 → </a:t>
            </a:r>
            <a:r>
              <a:rPr lang="en-US" altLang="zh-CN" sz="1600" dirty="0"/>
              <a:t>POS </a:t>
            </a:r>
            <a:r>
              <a:rPr lang="zh-CN" altLang="en-US" sz="1600" dirty="0"/>
              <a:t>图标 </a:t>
            </a:r>
            <a:r>
              <a:rPr lang="en-US" altLang="zh-CN" sz="1600" dirty="0"/>
              <a:t>/ </a:t>
            </a:r>
            <a:r>
              <a:rPr lang="zh-CN" altLang="en-US" sz="1600" dirty="0"/>
              <a:t>外卖平台图标 → 顾客手机短信图标。或者直接用一张“</a:t>
            </a:r>
            <a:r>
              <a:rPr lang="en-US" altLang="zh-CN" sz="1600" dirty="0"/>
              <a:t>AI </a:t>
            </a:r>
            <a:r>
              <a:rPr lang="zh-CN" altLang="en-US" sz="1600" dirty="0"/>
              <a:t>机器人 </a:t>
            </a:r>
            <a:r>
              <a:rPr lang="en-US" altLang="zh-CN" sz="1600" dirty="0"/>
              <a:t>+ </a:t>
            </a:r>
            <a:r>
              <a:rPr lang="zh-CN" altLang="en-US" sz="1600" dirty="0"/>
              <a:t>电话 </a:t>
            </a:r>
            <a:r>
              <a:rPr lang="en-US" altLang="zh-CN" sz="1600" dirty="0"/>
              <a:t>+ </a:t>
            </a:r>
            <a:r>
              <a:rPr lang="zh-CN" altLang="en-US" sz="1600" dirty="0"/>
              <a:t>外卖图标”的扁平插画。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496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17954-38BC-BB86-C6FD-175211CC6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20B15832-C5E3-2437-FC39-16806E4733AD}"/>
              </a:ext>
            </a:extLst>
          </p:cNvPr>
          <p:cNvGrpSpPr/>
          <p:nvPr/>
        </p:nvGrpSpPr>
        <p:grpSpPr>
          <a:xfrm>
            <a:off x="456861" y="373620"/>
            <a:ext cx="11278278" cy="625104"/>
            <a:chOff x="456861" y="373620"/>
            <a:chExt cx="11278278" cy="625104"/>
          </a:xfrm>
        </p:grpSpPr>
        <p:sp>
          <p:nvSpPr>
            <p:cNvPr id="11" name="Bullet1">
              <a:extLst>
                <a:ext uri="{FF2B5EF4-FFF2-40B4-BE49-F238E27FC236}">
                  <a16:creationId xmlns:a16="http://schemas.microsoft.com/office/drawing/2014/main" id="{0C429829-F836-AAD1-1C11-A9701CFF9352}"/>
                </a:ext>
              </a:extLst>
            </p:cNvPr>
            <p:cNvSpPr txBox="1"/>
            <p:nvPr/>
          </p:nvSpPr>
          <p:spPr bwMode="auto">
            <a:xfrm>
              <a:off x="1435299" y="422724"/>
              <a:ext cx="10299840" cy="57600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defTabSz="913765">
                <a:buSzPct val="25000"/>
                <a:defRPr/>
              </a:pPr>
              <a:r>
                <a:rPr lang="zh-CN" altLang="en-US" sz="2800" b="1" dirty="0"/>
                <a:t>产品能力与工作流程</a:t>
              </a:r>
              <a:br>
                <a:rPr lang="zh-CN" altLang="en-US" sz="2800" dirty="0"/>
              </a:br>
              <a:r>
                <a:rPr lang="en-US" altLang="zh-CN" sz="2800" b="1" dirty="0"/>
                <a:t>Key capabilities &amp; call flow</a:t>
              </a:r>
              <a:endParaRPr lang="zh-CN" altLang="en-US" sz="2800" b="1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endParaRPr>
            </a:p>
          </p:txBody>
        </p:sp>
        <p:sp>
          <p:nvSpPr>
            <p:cNvPr id="12" name="Number1">
              <a:extLst>
                <a:ext uri="{FF2B5EF4-FFF2-40B4-BE49-F238E27FC236}">
                  <a16:creationId xmlns:a16="http://schemas.microsoft.com/office/drawing/2014/main" id="{7104CDEA-12C0-6FC2-1729-2E283B67659E}"/>
                </a:ext>
              </a:extLst>
            </p:cNvPr>
            <p:cNvSpPr/>
            <p:nvPr/>
          </p:nvSpPr>
          <p:spPr>
            <a:xfrm>
              <a:off x="456861" y="373620"/>
              <a:ext cx="903850" cy="613425"/>
            </a:xfrm>
            <a:prstGeom prst="round2DiagRect">
              <a:avLst>
                <a:gd name="adj1" fmla="val 0"/>
                <a:gd name="adj2" fmla="val 35305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90500" dist="635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kumimoji="1"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02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B70C64CA-079E-A8AF-EC78-FF545FF6D8B7}"/>
              </a:ext>
            </a:extLst>
          </p:cNvPr>
          <p:cNvSpPr txBox="1"/>
          <p:nvPr/>
        </p:nvSpPr>
        <p:spPr>
          <a:xfrm>
            <a:off x="8314440" y="3429000"/>
            <a:ext cx="27042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/>
              <a:t>画流程图：电话来电 → </a:t>
            </a:r>
            <a:r>
              <a:rPr lang="en-US" altLang="zh-CN" sz="1400" dirty="0"/>
              <a:t>AI </a:t>
            </a:r>
            <a:r>
              <a:rPr lang="zh-CN" altLang="en-US" sz="1400" dirty="0"/>
              <a:t>语音对话 → 确认菜品和价格 → 采集地址 </a:t>
            </a:r>
            <a:r>
              <a:rPr lang="en-US" altLang="zh-CN" sz="1400" dirty="0"/>
              <a:t>&amp; </a:t>
            </a:r>
            <a:r>
              <a:rPr lang="zh-CN" altLang="en-US" sz="1400" dirty="0"/>
              <a:t>备注 → 写入 </a:t>
            </a:r>
            <a:r>
              <a:rPr lang="en-US" altLang="zh-CN" sz="1400" dirty="0"/>
              <a:t>POS/</a:t>
            </a:r>
            <a:r>
              <a:rPr lang="zh-CN" altLang="en-US" sz="1400" dirty="0"/>
              <a:t>外卖平台 → 给顾客发确认短信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DA25BD-DF4E-E438-BCEE-5E0742345EE0}"/>
              </a:ext>
            </a:extLst>
          </p:cNvPr>
          <p:cNvSpPr txBox="1"/>
          <p:nvPr/>
        </p:nvSpPr>
        <p:spPr>
          <a:xfrm>
            <a:off x="1049450" y="1141002"/>
            <a:ext cx="9509288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· </a:t>
            </a:r>
            <a:r>
              <a:rPr lang="zh-CN" altLang="en-US" sz="1600" dirty="0"/>
              <a:t>自动接听与排队（Auto answer &amp; queuing）</a:t>
            </a:r>
          </a:p>
          <a:p>
            <a:r>
              <a:rPr lang="zh-CN" altLang="en-US" sz="1600" dirty="0"/>
              <a:t>  - 在营业时间内自动接听所有来电，高峰期支持多路并发，</a:t>
            </a:r>
          </a:p>
          <a:p>
            <a:r>
              <a:rPr lang="zh-CN" altLang="en-US" sz="1600" dirty="0"/>
              <a:t>    避免出现占线或漏接电话。</a:t>
            </a:r>
          </a:p>
          <a:p>
            <a:r>
              <a:rPr lang="zh-CN" altLang="en-US" sz="1600" dirty="0"/>
              <a:t>  - 可配置营业时间、节假日语音和特殊公告。</a:t>
            </a:r>
          </a:p>
          <a:p>
            <a:endParaRPr lang="zh-CN" altLang="en-US" sz="1600" dirty="0"/>
          </a:p>
          <a:p>
            <a:r>
              <a:rPr lang="zh-CN" altLang="en-US" sz="1600" dirty="0"/>
              <a:t>· 中英双语对话（Bilingual conversation）</a:t>
            </a:r>
          </a:p>
          <a:p>
            <a:r>
              <a:rPr lang="zh-CN" altLang="en-US" sz="1600" dirty="0"/>
              <a:t>  - 支持普通话 / 粤语口音的英文混说</a:t>
            </a:r>
            <a:endParaRPr lang="en-US" altLang="zh-CN" sz="1600" dirty="0"/>
          </a:p>
          <a:p>
            <a:r>
              <a:rPr lang="zh-CN" altLang="en-US" sz="1600" dirty="0"/>
              <a:t>  - 可按门店菜单训练专属词表，提升中餐菜名识别率。</a:t>
            </a:r>
          </a:p>
          <a:p>
            <a:endParaRPr lang="zh-CN" altLang="en-US" sz="1600" dirty="0"/>
          </a:p>
          <a:p>
            <a:r>
              <a:rPr lang="zh-CN" altLang="en-US" sz="1600" dirty="0"/>
              <a:t>· 菜单理解与加料逻辑（Menu &amp; customization）</a:t>
            </a:r>
          </a:p>
          <a:p>
            <a:r>
              <a:rPr lang="zh-CN" altLang="en-US" sz="1600" dirty="0"/>
              <a:t>  - 深度对接门店菜单结构</a:t>
            </a:r>
          </a:p>
          <a:p>
            <a:r>
              <a:rPr lang="zh-CN" altLang="en-US" sz="1600" dirty="0"/>
              <a:t>  - 自动询问规格（大小份、辣度、饮料选择等），减少漏问和重复确认。</a:t>
            </a:r>
          </a:p>
          <a:p>
            <a:endParaRPr lang="zh-CN" altLang="en-US" sz="1600" dirty="0"/>
          </a:p>
          <a:p>
            <a:r>
              <a:rPr lang="zh-CN" altLang="en-US" sz="1600" dirty="0"/>
              <a:t>· 地址与外送信息（Address &amp; delivery）</a:t>
            </a:r>
          </a:p>
          <a:p>
            <a:r>
              <a:rPr lang="zh-CN" altLang="en-US" sz="1600" dirty="0"/>
              <a:t>  - 引导顾客报地址 / 门牌号 / 公寓号，支持常用地址记忆与复用。</a:t>
            </a:r>
          </a:p>
          <a:p>
            <a:r>
              <a:rPr lang="zh-CN" altLang="en-US" sz="1600" dirty="0"/>
              <a:t>  - 可对接第三方外卖平台或店内配送系统，用结构化格式传递订单信息。</a:t>
            </a:r>
          </a:p>
          <a:p>
            <a:endParaRPr lang="zh-CN" altLang="en-US" sz="1600" dirty="0"/>
          </a:p>
          <a:p>
            <a:r>
              <a:rPr lang="zh-CN" altLang="en-US" sz="1600" dirty="0"/>
              <a:t>· POS / 外卖平台集成（Integration）</a:t>
            </a:r>
          </a:p>
          <a:p>
            <a:r>
              <a:rPr lang="zh-CN" altLang="en-US" sz="1600" dirty="0"/>
              <a:t>  - 对接主流华人 POS（如 Tiger / RestPOS 等）和主流外卖平台接口，</a:t>
            </a:r>
          </a:p>
          <a:p>
            <a:r>
              <a:rPr lang="zh-CN" altLang="en-US" sz="1600" dirty="0"/>
              <a:t>    自动落单，无需员工二次输入。</a:t>
            </a:r>
          </a:p>
          <a:p>
            <a:r>
              <a:rPr lang="zh-CN" altLang="en-US" sz="1600" dirty="0"/>
              <a:t>  - 支持短信确认链接，后续可扩展至在线支付（text-to-pay）。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462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785AC-A1A3-3F9C-C978-CC63DA8E5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E3692AD0-F9AC-565B-2442-233497FBB0D5}"/>
              </a:ext>
            </a:extLst>
          </p:cNvPr>
          <p:cNvGrpSpPr/>
          <p:nvPr/>
        </p:nvGrpSpPr>
        <p:grpSpPr>
          <a:xfrm>
            <a:off x="456861" y="373620"/>
            <a:ext cx="11278278" cy="625104"/>
            <a:chOff x="456861" y="373620"/>
            <a:chExt cx="11278278" cy="625104"/>
          </a:xfrm>
        </p:grpSpPr>
        <p:sp>
          <p:nvSpPr>
            <p:cNvPr id="11" name="Bullet1">
              <a:extLst>
                <a:ext uri="{FF2B5EF4-FFF2-40B4-BE49-F238E27FC236}">
                  <a16:creationId xmlns:a16="http://schemas.microsoft.com/office/drawing/2014/main" id="{3D865337-BB5E-EB95-9750-823C800AF369}"/>
                </a:ext>
              </a:extLst>
            </p:cNvPr>
            <p:cNvSpPr txBox="1"/>
            <p:nvPr/>
          </p:nvSpPr>
          <p:spPr bwMode="auto">
            <a:xfrm>
              <a:off x="1435299" y="422724"/>
              <a:ext cx="10299840" cy="57600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defTabSz="913765">
                <a:buSzPct val="25000"/>
                <a:defRPr/>
              </a:pPr>
              <a:r>
                <a:rPr lang="zh-CN" altLang="en-US" sz="2800" b="1" dirty="0"/>
                <a:t>服务模式与部署方案</a:t>
              </a:r>
              <a:endParaRPr lang="en-US" altLang="zh-CN" sz="2800" b="1" dirty="0"/>
            </a:p>
            <a:p>
              <a:pPr lvl="0" defTabSz="913765">
                <a:buSzPct val="25000"/>
                <a:defRPr/>
              </a:pPr>
              <a:r>
                <a:rPr lang="en-US" altLang="zh-CN" sz="2800" b="1" dirty="0"/>
                <a:t>Service model, onboarding &amp; pricing logic</a:t>
              </a:r>
              <a:endParaRPr lang="zh-CN" altLang="en-US" sz="2800" b="1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endParaRPr>
            </a:p>
          </p:txBody>
        </p:sp>
        <p:sp>
          <p:nvSpPr>
            <p:cNvPr id="12" name="Number1">
              <a:extLst>
                <a:ext uri="{FF2B5EF4-FFF2-40B4-BE49-F238E27FC236}">
                  <a16:creationId xmlns:a16="http://schemas.microsoft.com/office/drawing/2014/main" id="{1A02EF0D-5038-D491-7D29-3EDB12B91655}"/>
                </a:ext>
              </a:extLst>
            </p:cNvPr>
            <p:cNvSpPr/>
            <p:nvPr/>
          </p:nvSpPr>
          <p:spPr>
            <a:xfrm>
              <a:off x="456861" y="373620"/>
              <a:ext cx="903850" cy="613425"/>
            </a:xfrm>
            <a:prstGeom prst="round2DiagRect">
              <a:avLst>
                <a:gd name="adj1" fmla="val 0"/>
                <a:gd name="adj2" fmla="val 35305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90500" dist="635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kumimoji="1"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02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137A5F7B-0F40-86C8-D26F-D504E88BF9BE}"/>
              </a:ext>
            </a:extLst>
          </p:cNvPr>
          <p:cNvSpPr txBox="1"/>
          <p:nvPr/>
        </p:nvSpPr>
        <p:spPr>
          <a:xfrm>
            <a:off x="8182465" y="2919953"/>
            <a:ext cx="270426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/>
              <a:t>画图： 左边是一个「</a:t>
            </a:r>
            <a:r>
              <a:rPr lang="en-US" altLang="zh-CN" sz="1400" dirty="0"/>
              <a:t>4 </a:t>
            </a:r>
            <a:r>
              <a:rPr lang="zh-CN" altLang="en-US" sz="1400" dirty="0"/>
              <a:t>步上线流程」的时间轴（</a:t>
            </a:r>
            <a:r>
              <a:rPr lang="en-US" altLang="zh-CN" sz="1400" dirty="0"/>
              <a:t>Step 1–4</a:t>
            </a:r>
            <a:r>
              <a:rPr lang="zh-CN" altLang="en-US" sz="1400" dirty="0"/>
              <a:t>），右边用一个很简单的小表格对比：人工接电话：</a:t>
            </a:r>
            <a:r>
              <a:rPr lang="en-US" altLang="zh-CN" sz="1400" dirty="0"/>
              <a:t>$3.5k–3.8k / </a:t>
            </a:r>
            <a:r>
              <a:rPr lang="zh-CN" altLang="en-US" sz="1400" dirty="0"/>
              <a:t>月</a:t>
            </a:r>
            <a:endParaRPr lang="en-US" altLang="zh-CN" sz="1400" dirty="0"/>
          </a:p>
          <a:p>
            <a:pPr algn="ctr"/>
            <a:r>
              <a:rPr lang="en-US" altLang="zh-CN" sz="1400" dirty="0"/>
              <a:t>AI </a:t>
            </a:r>
            <a:r>
              <a:rPr lang="zh-CN" altLang="en-US" sz="1400" dirty="0"/>
              <a:t>语音 </a:t>
            </a:r>
            <a:r>
              <a:rPr lang="en-US" altLang="zh-CN" sz="1400" dirty="0"/>
              <a:t>Agent</a:t>
            </a:r>
            <a:r>
              <a:rPr lang="zh-CN" altLang="en-US" sz="1400" dirty="0"/>
              <a:t>：</a:t>
            </a:r>
            <a:r>
              <a:rPr lang="en-US" altLang="zh-CN" sz="1400" dirty="0"/>
              <a:t>$1.0k–1.5k / </a:t>
            </a:r>
            <a:r>
              <a:rPr lang="zh-CN" altLang="en-US" sz="1400" dirty="0"/>
              <a:t>月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908535-7ECF-FD22-CA24-79F94E272EE5}"/>
              </a:ext>
            </a:extLst>
          </p:cNvPr>
          <p:cNvSpPr txBox="1"/>
          <p:nvPr/>
        </p:nvSpPr>
        <p:spPr>
          <a:xfrm>
            <a:off x="984201" y="1228397"/>
            <a:ext cx="609442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· SaaS 服务模式（Subscription-based）</a:t>
            </a:r>
          </a:p>
          <a:p>
            <a:r>
              <a:rPr lang="zh-CN" altLang="en-US" sz="1400" dirty="0"/>
              <a:t>  - 按「门店 / 月」订阅收费，支持多门店折扣。</a:t>
            </a:r>
          </a:p>
          <a:p>
            <a:r>
              <a:rPr lang="zh-CN" altLang="en-US" sz="1400" dirty="0"/>
              <a:t>  - 提供 7–14 天免费试用，期间只为成功订单付费（可选方案）。</a:t>
            </a:r>
          </a:p>
          <a:p>
            <a:endParaRPr lang="zh-CN" altLang="en-US" sz="1400" dirty="0"/>
          </a:p>
          <a:p>
            <a:r>
              <a:rPr lang="zh-CN" altLang="en-US" sz="1400" dirty="0"/>
              <a:t>· 标准部署流程（Onboarding 流程）</a:t>
            </a:r>
          </a:p>
          <a:p>
            <a:r>
              <a:rPr lang="zh-CN" altLang="en-US" sz="1400" dirty="0"/>
              <a:t>  1）收集菜单、营业时间和现有接单流程（电话 + POS / 外卖平台）。</a:t>
            </a:r>
          </a:p>
          <a:p>
            <a:r>
              <a:rPr lang="zh-CN" altLang="en-US" sz="1400" dirty="0"/>
              <a:t>  2）生成门店专属语音 Agent，并进行菜单/话术微调。</a:t>
            </a:r>
          </a:p>
          <a:p>
            <a:r>
              <a:rPr lang="zh-CN" altLang="en-US" sz="1400" dirty="0"/>
              <a:t>  3）绑定门店电话（转接或 SIP），开启试运行模式（员工可旁听和纠正）。</a:t>
            </a:r>
          </a:p>
          <a:p>
            <a:r>
              <a:rPr lang="zh-CN" altLang="en-US" sz="1400" dirty="0"/>
              <a:t>  4）稳定后切换为正式上线模式，并按月结算。</a:t>
            </a:r>
          </a:p>
          <a:p>
            <a:endParaRPr lang="zh-CN" altLang="en-US" sz="1400" dirty="0"/>
          </a:p>
          <a:p>
            <a:r>
              <a:rPr lang="zh-CN" altLang="en-US" sz="1400" dirty="0"/>
              <a:t>· 支持与服务（Support）</a:t>
            </a:r>
          </a:p>
          <a:p>
            <a:r>
              <a:rPr lang="zh-CN" altLang="en-US" sz="1400" dirty="0"/>
              <a:t>  - 7×12 小时在线支持，异常通话可人工回听和标注。</a:t>
            </a:r>
          </a:p>
          <a:p>
            <a:r>
              <a:rPr lang="zh-CN" altLang="en-US" sz="1400" dirty="0"/>
              <a:t>  - 提供月度报表：通话量、接通率、订单量、替代人工时长等关键指标。</a:t>
            </a:r>
          </a:p>
          <a:p>
            <a:r>
              <a:rPr lang="zh-CN" altLang="en-US" sz="1400" dirty="0"/>
              <a:t>  - 可根据大型连锁需求，提供专属排队策略和总部统一配置能力。</a:t>
            </a:r>
          </a:p>
          <a:p>
            <a:endParaRPr lang="zh-CN" altLang="en-US" sz="1400" dirty="0"/>
          </a:p>
          <a:p>
            <a:r>
              <a:rPr lang="zh-CN" altLang="en-US" sz="1400" dirty="0"/>
              <a:t>· 定价逻辑（Pricing logic – 示例）</a:t>
            </a:r>
          </a:p>
          <a:p>
            <a:r>
              <a:rPr lang="zh-CN" altLang="en-US" sz="1400" dirty="0"/>
              <a:t>  - 参考美国中餐外送店接电话岗位真实成本约 $42k–45k / 年，</a:t>
            </a:r>
          </a:p>
          <a:p>
            <a:r>
              <a:rPr lang="zh-CN" altLang="en-US" sz="1400" dirty="0"/>
              <a:t>    即每月约 $3.5k–3.8k。</a:t>
            </a:r>
          </a:p>
          <a:p>
            <a:r>
              <a:rPr lang="zh-CN" altLang="en-US" sz="1400" dirty="0"/>
              <a:t>  - 我们的 AI 点餐系统定价约 $1,000–1,500 / 月，即使只替代 1 个全职岗位，</a:t>
            </a:r>
          </a:p>
          <a:p>
            <a:r>
              <a:rPr lang="zh-CN" altLang="en-US" sz="1400" dirty="0"/>
              <a:t>    仍可为门店保守节省 50%+ 的人工成本。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6871D7-C5AA-42DD-4FBE-AAA2C25E1CCE}"/>
              </a:ext>
            </a:extLst>
          </p:cNvPr>
          <p:cNvSpPr txBox="1"/>
          <p:nvPr/>
        </p:nvSpPr>
        <p:spPr>
          <a:xfrm>
            <a:off x="2709420" y="5732384"/>
            <a:ext cx="73772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从老板视角出发：不用改动太多现有系统和流程，就能把一个难招又不好管的岗位交给 AI 做</a:t>
            </a:r>
            <a:r>
              <a:rPr lang="zh-CN" altLang="en-US" dirty="0"/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2911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DDD62-068B-D55C-6429-6E853117C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0F30094-7A43-4914-14BA-B09121E7D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8A4B8BEB-8383-6C24-7EED-DA6DACA4A750}"/>
              </a:ext>
            </a:extLst>
          </p:cNvPr>
          <p:cNvGrpSpPr/>
          <p:nvPr/>
        </p:nvGrpSpPr>
        <p:grpSpPr>
          <a:xfrm flipH="1">
            <a:off x="11282316" y="482347"/>
            <a:ext cx="635000" cy="127253"/>
            <a:chOff x="3044090" y="-1193800"/>
            <a:chExt cx="1477110" cy="296010"/>
          </a:xfrm>
          <a:solidFill>
            <a:schemeClr val="accent2"/>
          </a:solidFill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25B1FD52-DD42-5F43-A054-453276FDAE60}"/>
                </a:ext>
              </a:extLst>
            </p:cNvPr>
            <p:cNvSpPr/>
            <p:nvPr/>
          </p:nvSpPr>
          <p:spPr>
            <a:xfrm>
              <a:off x="3044090" y="-1193800"/>
              <a:ext cx="296010" cy="296010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10A9BCBA-D748-D9E8-5090-9371AA40DF71}"/>
                </a:ext>
              </a:extLst>
            </p:cNvPr>
            <p:cNvSpPr/>
            <p:nvPr/>
          </p:nvSpPr>
          <p:spPr>
            <a:xfrm>
              <a:off x="3634640" y="-1193800"/>
              <a:ext cx="296010" cy="296010"/>
            </a:xfrm>
            <a:prstGeom prst="ellipse">
              <a:avLst/>
            </a:prstGeom>
            <a:grp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1B76A7E-8673-3069-4108-14DD869A5FB3}"/>
                </a:ext>
              </a:extLst>
            </p:cNvPr>
            <p:cNvSpPr/>
            <p:nvPr/>
          </p:nvSpPr>
          <p:spPr>
            <a:xfrm>
              <a:off x="4225190" y="-1193800"/>
              <a:ext cx="296010" cy="296010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Bullet1">
            <a:extLst>
              <a:ext uri="{FF2B5EF4-FFF2-40B4-BE49-F238E27FC236}">
                <a16:creationId xmlns:a16="http://schemas.microsoft.com/office/drawing/2014/main" id="{CDDC321C-9075-3A25-8B8C-F1B1554A56C4}"/>
              </a:ext>
            </a:extLst>
          </p:cNvPr>
          <p:cNvSpPr txBox="1"/>
          <p:nvPr/>
        </p:nvSpPr>
        <p:spPr bwMode="auto">
          <a:xfrm>
            <a:off x="4705105" y="3095280"/>
            <a:ext cx="8418651" cy="5760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 defTabSz="913765">
              <a:buSzPct val="25000"/>
              <a:defRPr/>
            </a:pPr>
            <a:r>
              <a:rPr lang="zh-CN" altLang="en-US" sz="8800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rPr>
              <a:t>成本模型</a:t>
            </a:r>
          </a:p>
        </p:txBody>
      </p:sp>
      <p:sp>
        <p:nvSpPr>
          <p:cNvPr id="11" name="Number1">
            <a:extLst>
              <a:ext uri="{FF2B5EF4-FFF2-40B4-BE49-F238E27FC236}">
                <a16:creationId xmlns:a16="http://schemas.microsoft.com/office/drawing/2014/main" id="{985EFAE2-BD1C-46E4-44DB-BE443426816F}"/>
              </a:ext>
            </a:extLst>
          </p:cNvPr>
          <p:cNvSpPr/>
          <p:nvPr/>
        </p:nvSpPr>
        <p:spPr>
          <a:xfrm>
            <a:off x="8194430" y="1819680"/>
            <a:ext cx="1440001" cy="613425"/>
          </a:xfrm>
          <a:prstGeom prst="round2DiagRect">
            <a:avLst>
              <a:gd name="adj1" fmla="val 0"/>
              <a:gd name="adj2" fmla="val 35305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ffectLst>
            <a:outerShdw blurRad="190500" dist="63500" dir="5400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 anchorCtr="0">
            <a:normAutofit/>
          </a:bodyPr>
          <a:lstStyle/>
          <a:p>
            <a:pPr algn="ctr"/>
            <a:r>
              <a:rPr kumimoji="1" lang="en-US" altLang="zh-CN" sz="2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</a:p>
        </p:txBody>
      </p:sp>
      <p:sp>
        <p:nvSpPr>
          <p:cNvPr id="12" name="Text1">
            <a:extLst>
              <a:ext uri="{FF2B5EF4-FFF2-40B4-BE49-F238E27FC236}">
                <a16:creationId xmlns:a16="http://schemas.microsoft.com/office/drawing/2014/main" id="{0A9AD348-2A85-65EB-996C-5AABCE1A7C54}"/>
              </a:ext>
            </a:extLst>
          </p:cNvPr>
          <p:cNvSpPr txBox="1"/>
          <p:nvPr/>
        </p:nvSpPr>
        <p:spPr>
          <a:xfrm>
            <a:off x="6705419" y="4137850"/>
            <a:ext cx="4704150" cy="9675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 fontScale="92500"/>
          </a:bodyPr>
          <a:lstStyle/>
          <a:p>
            <a:pPr algn="ctr" defTabSz="913765">
              <a:lnSpc>
                <a:spcPct val="120000"/>
              </a:lnSpc>
              <a:buSzPct val="25000"/>
              <a:defRPr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从一名接电话员工的真实用工成本出发，拆解招聘、培训与流动损耗，</a:t>
            </a:r>
          </a:p>
          <a:p>
            <a:pPr algn="ctr" defTabSz="913765">
              <a:lnSpc>
                <a:spcPct val="120000"/>
              </a:lnSpc>
              <a:buSzPct val="25000"/>
              <a:defRPr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量化一个岗位的全年真实支出，并对比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语音点餐系统的订阅费用，</a:t>
            </a:r>
          </a:p>
          <a:p>
            <a:pPr algn="ctr" defTabSz="913765">
              <a:lnSpc>
                <a:spcPct val="120000"/>
              </a:lnSpc>
              <a:buSzPct val="25000"/>
              <a:defRPr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展示在中餐与亚洲餐厅场景下，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语音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Agent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的节省空间与投资回报。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ctr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Pct val="25000"/>
              <a:buFontTx/>
              <a:buNone/>
              <a:defRPr/>
            </a:pP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A76EFBA-C1B1-AF23-A9C7-EBAD6732C190}"/>
              </a:ext>
            </a:extLst>
          </p:cNvPr>
          <p:cNvSpPr txBox="1"/>
          <p:nvPr/>
        </p:nvSpPr>
        <p:spPr>
          <a:xfrm>
            <a:off x="6903720" y="6284212"/>
            <a:ext cx="50135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dirty="0"/>
              <a:t>语音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餐饮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应用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039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364DC-3506-6905-2355-F72F1FF3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9FC2C44A-5922-D0CA-7EED-E1C072436072}"/>
              </a:ext>
            </a:extLst>
          </p:cNvPr>
          <p:cNvGrpSpPr/>
          <p:nvPr/>
        </p:nvGrpSpPr>
        <p:grpSpPr>
          <a:xfrm>
            <a:off x="456861" y="373620"/>
            <a:ext cx="11278278" cy="625104"/>
            <a:chOff x="456861" y="373620"/>
            <a:chExt cx="11278278" cy="625104"/>
          </a:xfrm>
        </p:grpSpPr>
        <p:sp>
          <p:nvSpPr>
            <p:cNvPr id="11" name="Bullet1">
              <a:extLst>
                <a:ext uri="{FF2B5EF4-FFF2-40B4-BE49-F238E27FC236}">
                  <a16:creationId xmlns:a16="http://schemas.microsoft.com/office/drawing/2014/main" id="{AEAA8210-1D57-3821-2D04-B60AB0D5FC7D}"/>
                </a:ext>
              </a:extLst>
            </p:cNvPr>
            <p:cNvSpPr txBox="1"/>
            <p:nvPr/>
          </p:nvSpPr>
          <p:spPr bwMode="auto">
            <a:xfrm>
              <a:off x="1435299" y="422724"/>
              <a:ext cx="10299840" cy="57600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defTabSz="913765">
                <a:buSzPct val="25000"/>
                <a:defRPr/>
              </a:pPr>
              <a:r>
                <a:rPr lang="zh-CN" altLang="en-US" sz="2800" b="1" dirty="0"/>
                <a:t>美国中餐外卖店：一个接电话岗位的真实成本 ≈ </a:t>
              </a:r>
              <a:r>
                <a:rPr lang="en-US" altLang="zh-CN" sz="2800" b="1" dirty="0"/>
                <a:t>$42k–45k/</a:t>
              </a:r>
              <a:r>
                <a:rPr lang="zh-CN" altLang="en-US" sz="2800" b="1" dirty="0"/>
                <a:t>年</a:t>
              </a:r>
              <a:endParaRPr lang="zh-CN" altLang="en-US" sz="2800" b="1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endParaRPr>
            </a:p>
          </p:txBody>
        </p:sp>
        <p:sp>
          <p:nvSpPr>
            <p:cNvPr id="12" name="Number1">
              <a:extLst>
                <a:ext uri="{FF2B5EF4-FFF2-40B4-BE49-F238E27FC236}">
                  <a16:creationId xmlns:a16="http://schemas.microsoft.com/office/drawing/2014/main" id="{6470DA03-E968-CA8F-4034-2734A8A1E4FB}"/>
                </a:ext>
              </a:extLst>
            </p:cNvPr>
            <p:cNvSpPr/>
            <p:nvPr/>
          </p:nvSpPr>
          <p:spPr>
            <a:xfrm>
              <a:off x="456861" y="373620"/>
              <a:ext cx="903850" cy="613425"/>
            </a:xfrm>
            <a:prstGeom prst="round2DiagRect">
              <a:avLst>
                <a:gd name="adj1" fmla="val 0"/>
                <a:gd name="adj2" fmla="val 35305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90500" dist="635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kumimoji="1"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03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C3C3706-DA3B-CAD6-90AD-6C38F79E8A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53"/>
          <a:stretch>
            <a:fillRect/>
          </a:stretch>
        </p:blipFill>
        <p:spPr>
          <a:xfrm>
            <a:off x="6585219" y="4186635"/>
            <a:ext cx="4007290" cy="24243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3F3C2E9-BC99-B455-A75A-BBF9886BAD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877"/>
          <a:stretch>
            <a:fillRect/>
          </a:stretch>
        </p:blipFill>
        <p:spPr>
          <a:xfrm>
            <a:off x="7236004" y="998724"/>
            <a:ext cx="3133481" cy="261191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A4FCC1A-CDE4-1357-007A-09F4942F1DA0}"/>
              </a:ext>
            </a:extLst>
          </p:cNvPr>
          <p:cNvSpPr txBox="1"/>
          <p:nvPr/>
        </p:nvSpPr>
        <p:spPr>
          <a:xfrm>
            <a:off x="753358" y="998724"/>
            <a:ext cx="534264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· </a:t>
            </a:r>
            <a:r>
              <a:rPr lang="zh-CN" altLang="en-US" sz="1300" dirty="0"/>
              <a:t>基本工资（全职接电话 / 前台）</a:t>
            </a:r>
          </a:p>
          <a:p>
            <a:r>
              <a:rPr lang="zh-CN" altLang="en-US" sz="1300" dirty="0"/>
              <a:t>  - 典型薪资区间：$18/h × 40h/week × 52 周 ≈ $37,440 / 年</a:t>
            </a:r>
          </a:p>
          <a:p>
            <a:r>
              <a:rPr lang="zh-CN" altLang="en-US" sz="1300" dirty="0"/>
              <a:t>  - 高人手紧缺地区或老员工，实际往往高于此水平</a:t>
            </a:r>
          </a:p>
          <a:p>
            <a:endParaRPr lang="zh-CN" altLang="en-US" sz="1300" dirty="0"/>
          </a:p>
          <a:p>
            <a:r>
              <a:rPr lang="zh-CN" altLang="en-US" sz="1300" dirty="0"/>
              <a:t>· 招聘成本（每次换人）</a:t>
            </a:r>
          </a:p>
          <a:p>
            <a:r>
              <a:rPr lang="zh-CN" altLang="en-US" sz="1300" dirty="0"/>
              <a:t>  - 招聘广告 + 渠道费用：约 $60–$120</a:t>
            </a:r>
          </a:p>
          <a:p>
            <a:r>
              <a:rPr lang="zh-CN" altLang="en-US" sz="1300" dirty="0"/>
              <a:t>  - 老板筛简历、电话沟通、面试：≈ 7 小时 × $30 ≈ $210</a:t>
            </a:r>
          </a:p>
          <a:p>
            <a:r>
              <a:rPr lang="zh-CN" altLang="en-US" sz="1300" dirty="0"/>
              <a:t>  - 试工 1–2 人：≈ $60</a:t>
            </a:r>
          </a:p>
          <a:p>
            <a:r>
              <a:rPr lang="zh-CN" altLang="en-US" sz="1300" dirty="0"/>
              <a:t>  → 单次招聘成本 ≈ $330–$390</a:t>
            </a:r>
          </a:p>
          <a:p>
            <a:endParaRPr lang="zh-CN" altLang="en-US" sz="1300" dirty="0"/>
          </a:p>
          <a:p>
            <a:r>
              <a:rPr lang="zh-CN" altLang="en-US" sz="1300" dirty="0"/>
              <a:t>· 培训成本（每位新员工）</a:t>
            </a:r>
          </a:p>
          <a:p>
            <a:r>
              <a:rPr lang="zh-CN" altLang="en-US" sz="1300" dirty="0"/>
              <a:t>  - 培训内容：菜单 40–120 个菜品、POS、外卖平台、电话话术、跟单实操等</a:t>
            </a:r>
          </a:p>
          <a:p>
            <a:r>
              <a:rPr lang="zh-CN" altLang="en-US" sz="1300" dirty="0"/>
              <a:t>  - 总培训时长约 35–50 小时（约 1 周）</a:t>
            </a:r>
          </a:p>
          <a:p>
            <a:r>
              <a:rPr lang="zh-CN" altLang="en-US" sz="1300" dirty="0"/>
              <a:t>  - 按 $18/h 计工资 ≈ $720</a:t>
            </a:r>
          </a:p>
          <a:p>
            <a:r>
              <a:rPr lang="zh-CN" altLang="en-US" sz="1300" dirty="0"/>
              <a:t>  - 老员工 / 老板带教时间：10 小时 × $30 ≈ $300</a:t>
            </a:r>
          </a:p>
          <a:p>
            <a:r>
              <a:rPr lang="zh-CN" altLang="en-US" sz="1300" dirty="0"/>
              <a:t>  - 培训期错误漏单损失：$50–$80</a:t>
            </a:r>
          </a:p>
          <a:p>
            <a:r>
              <a:rPr lang="zh-CN" altLang="en-US" sz="1300" dirty="0"/>
              <a:t>  → 培训成本合计 ≈ $1,050–$1,200 / 人</a:t>
            </a:r>
          </a:p>
          <a:p>
            <a:endParaRPr lang="zh-CN" altLang="en-US" sz="1300" dirty="0"/>
          </a:p>
          <a:p>
            <a:r>
              <a:rPr lang="zh-CN" altLang="en-US" sz="1300" dirty="0"/>
              <a:t>· 人员流动与年度额外损耗</a:t>
            </a:r>
          </a:p>
          <a:p>
            <a:r>
              <a:rPr lang="zh-CN" altLang="en-US" sz="1300" dirty="0"/>
              <a:t>  - 行业平均在职周期约 3–5 个月，这里取中位 4 个月</a:t>
            </a:r>
          </a:p>
          <a:p>
            <a:r>
              <a:rPr lang="zh-CN" altLang="en-US" sz="1300" dirty="0"/>
              <a:t>  - 一年更换 ≈ 3 次 × 每次（招聘 + 培训）≈ $1,450</a:t>
            </a:r>
          </a:p>
          <a:p>
            <a:r>
              <a:rPr lang="zh-CN" altLang="en-US" sz="1300" dirty="0"/>
              <a:t>  → 年度额外损耗 ≈ $4,350</a:t>
            </a:r>
          </a:p>
          <a:p>
            <a:endParaRPr lang="zh-CN" altLang="en-US" sz="1300" dirty="0"/>
          </a:p>
          <a:p>
            <a:r>
              <a:rPr lang="zh-CN" altLang="en-US" sz="1300" dirty="0"/>
              <a:t>· 综合年度真实成本（含工资 + 流动损耗）</a:t>
            </a:r>
          </a:p>
          <a:p>
            <a:r>
              <a:rPr lang="zh-CN" altLang="en-US" sz="1300" dirty="0"/>
              <a:t>  - 基本工资：约 $37,440 / 年</a:t>
            </a:r>
          </a:p>
          <a:p>
            <a:r>
              <a:rPr lang="zh-CN" altLang="en-US" sz="1300" dirty="0"/>
              <a:t>  - 招聘 + 培训 + 流动期错误：≈ $4,000–$5,000 / 年</a:t>
            </a:r>
          </a:p>
          <a:p>
            <a:r>
              <a:rPr lang="zh-CN" altLang="en-US" sz="1300" dirty="0"/>
              <a:t>  → 一名接电话员工的真实成本区间 ≈ </a:t>
            </a:r>
            <a:r>
              <a:rPr lang="zh-CN" altLang="en-US" sz="1300" b="1" dirty="0">
                <a:solidFill>
                  <a:srgbClr val="C00000"/>
                </a:solidFill>
              </a:rPr>
              <a:t>$42,000–45,000 / 年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8EF658-84C1-7C50-EE5C-E597946AE86D}"/>
              </a:ext>
            </a:extLst>
          </p:cNvPr>
          <p:cNvSpPr txBox="1"/>
          <p:nvPr/>
        </p:nvSpPr>
        <p:spPr>
          <a:xfrm>
            <a:off x="5541650" y="3553269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</a:rPr>
              <a:t>一个“接电话岗位”不仅是工资 3–4 万美元，而是加上招聘和培训损耗后的 4.2–4.5 万美元 / 年。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0140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EFA5C-231A-2423-7C8C-BB36B61A1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64D4C51B-F0D0-6914-1C8F-9F1E85836948}"/>
              </a:ext>
            </a:extLst>
          </p:cNvPr>
          <p:cNvGrpSpPr/>
          <p:nvPr/>
        </p:nvGrpSpPr>
        <p:grpSpPr>
          <a:xfrm>
            <a:off x="456861" y="373620"/>
            <a:ext cx="11278278" cy="625104"/>
            <a:chOff x="456861" y="373620"/>
            <a:chExt cx="11278278" cy="625104"/>
          </a:xfrm>
        </p:grpSpPr>
        <p:sp>
          <p:nvSpPr>
            <p:cNvPr id="11" name="Bullet1">
              <a:extLst>
                <a:ext uri="{FF2B5EF4-FFF2-40B4-BE49-F238E27FC236}">
                  <a16:creationId xmlns:a16="http://schemas.microsoft.com/office/drawing/2014/main" id="{7067DB69-3300-A8F3-676A-01C1E5A1163C}"/>
                </a:ext>
              </a:extLst>
            </p:cNvPr>
            <p:cNvSpPr txBox="1"/>
            <p:nvPr/>
          </p:nvSpPr>
          <p:spPr bwMode="auto">
            <a:xfrm>
              <a:off x="1435299" y="422724"/>
              <a:ext cx="10299840" cy="57600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defTabSz="913765">
                <a:buSzPct val="25000"/>
                <a:defRPr/>
              </a:pPr>
              <a:r>
                <a:rPr lang="zh-CN" altLang="en-US" sz="2800" b="1" dirty="0"/>
                <a:t>用一个 </a:t>
              </a:r>
              <a:r>
                <a:rPr lang="en-US" altLang="zh-CN" sz="2800" b="1" dirty="0"/>
                <a:t>AI </a:t>
              </a:r>
              <a:r>
                <a:rPr lang="zh-CN" altLang="en-US" sz="2800" b="1" dirty="0"/>
                <a:t>语音 </a:t>
              </a:r>
              <a:r>
                <a:rPr lang="en-US" altLang="zh-CN" sz="2800" b="1" dirty="0"/>
                <a:t>Agent</a:t>
              </a:r>
              <a:r>
                <a:rPr lang="zh-CN" altLang="en-US" sz="2800" b="1" dirty="0"/>
                <a:t>，替代 </a:t>
              </a:r>
              <a:r>
                <a:rPr lang="en-US" altLang="zh-CN" sz="2800" b="1" dirty="0"/>
                <a:t>4 </a:t>
              </a:r>
              <a:r>
                <a:rPr lang="zh-CN" altLang="en-US" sz="2800" b="1" dirty="0"/>
                <a:t>万美金</a:t>
              </a:r>
              <a:r>
                <a:rPr lang="en-US" altLang="zh-CN" sz="2800" b="1" dirty="0"/>
                <a:t>/</a:t>
              </a:r>
              <a:r>
                <a:rPr lang="zh-CN" altLang="en-US" sz="2800" b="1" dirty="0"/>
                <a:t>年的接电话岗位</a:t>
              </a:r>
              <a:endParaRPr lang="zh-CN" altLang="en-US" sz="2800" b="1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endParaRPr>
            </a:p>
          </p:txBody>
        </p:sp>
        <p:sp>
          <p:nvSpPr>
            <p:cNvPr id="12" name="Number1">
              <a:extLst>
                <a:ext uri="{FF2B5EF4-FFF2-40B4-BE49-F238E27FC236}">
                  <a16:creationId xmlns:a16="http://schemas.microsoft.com/office/drawing/2014/main" id="{F7130B91-F055-6B7D-648D-F0A2E3C3F25B}"/>
                </a:ext>
              </a:extLst>
            </p:cNvPr>
            <p:cNvSpPr/>
            <p:nvPr/>
          </p:nvSpPr>
          <p:spPr>
            <a:xfrm>
              <a:off x="456861" y="373620"/>
              <a:ext cx="903850" cy="613425"/>
            </a:xfrm>
            <a:prstGeom prst="round2DiagRect">
              <a:avLst>
                <a:gd name="adj1" fmla="val 0"/>
                <a:gd name="adj2" fmla="val 35305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90500" dist="635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kumimoji="1"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03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E6543B5-BF55-8CA3-B781-BBFA93F21D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35"/>
          <a:stretch>
            <a:fillRect/>
          </a:stretch>
        </p:blipFill>
        <p:spPr>
          <a:xfrm>
            <a:off x="6198720" y="2128542"/>
            <a:ext cx="4821936" cy="291456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415DDC5-3D39-89D5-BBAF-16B626868AA7}"/>
              </a:ext>
            </a:extLst>
          </p:cNvPr>
          <p:cNvSpPr txBox="1"/>
          <p:nvPr/>
        </p:nvSpPr>
        <p:spPr>
          <a:xfrm>
            <a:off x="810359" y="1352675"/>
            <a:ext cx="609442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· 关键假设（Key assumptions）</a:t>
            </a:r>
          </a:p>
          <a:p>
            <a:r>
              <a:rPr lang="zh-CN" altLang="en-US" sz="1400" dirty="0"/>
              <a:t>  - Human phone taker annual cost ≈ $43,500（工资 + 招聘 + 培训 + 流动损耗）</a:t>
            </a:r>
          </a:p>
          <a:p>
            <a:r>
              <a:rPr lang="zh-CN" altLang="en-US" sz="1400" dirty="0"/>
              <a:t>  - AI 语音点餐系统价格：≈ $1,200 / month（示例价，含语音 + 短信）</a:t>
            </a:r>
          </a:p>
          <a:p>
            <a:r>
              <a:rPr lang="zh-CN" altLang="en-US" sz="1400" dirty="0"/>
              <a:t>    → Annual AI cost ≈ $14,400 / year</a:t>
            </a:r>
          </a:p>
          <a:p>
            <a:r>
              <a:rPr lang="zh-CN" altLang="en-US" sz="1400" dirty="0"/>
              <a:t>  - 门店日均订单：≈ 100 单 / 天（含外送 + 外带）</a:t>
            </a:r>
          </a:p>
          <a:p>
            <a:r>
              <a:rPr lang="zh-CN" altLang="en-US" sz="1400" dirty="0"/>
              <a:t>  - 按全年 365 天营业估算（中餐外卖店比较常见）</a:t>
            </a:r>
          </a:p>
          <a:p>
            <a:endParaRPr lang="zh-CN" altLang="en-US" sz="1400" dirty="0"/>
          </a:p>
          <a:p>
            <a:r>
              <a:rPr lang="zh-CN" altLang="en-US" sz="1400" dirty="0"/>
              <a:t>· 直接节省（Key results – direct saving）</a:t>
            </a:r>
          </a:p>
          <a:p>
            <a:r>
              <a:rPr lang="zh-CN" altLang="en-US" sz="1400" dirty="0"/>
              <a:t>  - Annual direct saving：</a:t>
            </a:r>
          </a:p>
          <a:p>
            <a:r>
              <a:rPr lang="zh-CN" altLang="en-US" sz="1400" dirty="0"/>
              <a:t>    ≈ $43,500（人工岗位）- $14,400（AI 系统）</a:t>
            </a:r>
          </a:p>
          <a:p>
            <a:r>
              <a:rPr lang="zh-CN" altLang="en-US" sz="1400" dirty="0"/>
              <a:t>    ≈ **$29,100 / 年**</a:t>
            </a:r>
          </a:p>
          <a:p>
            <a:r>
              <a:rPr lang="zh-CN" altLang="en-US" sz="1400" dirty="0"/>
              <a:t>  - Saving per month：</a:t>
            </a:r>
          </a:p>
          <a:p>
            <a:r>
              <a:rPr lang="zh-CN" altLang="en-US" sz="1400" dirty="0"/>
              <a:t>    ≈ $2,425 / 月</a:t>
            </a:r>
          </a:p>
          <a:p>
            <a:r>
              <a:rPr lang="zh-CN" altLang="en-US" sz="1400" dirty="0"/>
              <a:t>  - Saving per day：</a:t>
            </a:r>
          </a:p>
          <a:p>
            <a:r>
              <a:rPr lang="zh-CN" altLang="en-US" sz="1400" dirty="0"/>
              <a:t>    ≈ $80 / 天</a:t>
            </a:r>
          </a:p>
          <a:p>
            <a:r>
              <a:rPr lang="zh-CN" altLang="en-US" sz="1400" dirty="0"/>
              <a:t>  - Saving per order：</a:t>
            </a:r>
          </a:p>
          <a:p>
            <a:r>
              <a:rPr lang="zh-CN" altLang="en-US" sz="1400" dirty="0"/>
              <a:t>    ≈ $0.80 / 单（按 100 单 / 天）</a:t>
            </a:r>
          </a:p>
          <a:p>
            <a:endParaRPr lang="zh-CN" altLang="en-US" sz="1400" dirty="0"/>
          </a:p>
          <a:p>
            <a:r>
              <a:rPr lang="zh-CN" altLang="en-US" sz="1400" dirty="0"/>
              <a:t>· 附加价值（未计入模型但对老板有感知）</a:t>
            </a:r>
          </a:p>
          <a:p>
            <a:r>
              <a:rPr lang="zh-CN" altLang="en-US" sz="1400" dirty="0"/>
              <a:t>  - 高峰期不漏接电话，减少排队与流失订单</a:t>
            </a:r>
          </a:p>
          <a:p>
            <a:r>
              <a:rPr lang="zh-CN" altLang="en-US" sz="1400" dirty="0"/>
              <a:t>  - 员工不再被电话打断，有更多时间做出餐和线下服务</a:t>
            </a:r>
          </a:p>
          <a:p>
            <a:r>
              <a:rPr lang="zh-CN" altLang="en-US" sz="1400" dirty="0"/>
              <a:t>  - 不用频繁招人和培训，老板心智负担明显下降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E8E3C72-920A-01CE-B162-C79C8AFDB31C}"/>
              </a:ext>
            </a:extLst>
          </p:cNvPr>
          <p:cNvSpPr txBox="1"/>
          <p:nvPr/>
        </p:nvSpPr>
        <p:spPr>
          <a:xfrm>
            <a:off x="5720302" y="5225924"/>
            <a:ext cx="62370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</a:rPr>
              <a:t>在典型假设下，一个 AI 语音 Agent 每年大约能替代 1 个接电话岗位，</a:t>
            </a:r>
          </a:p>
          <a:p>
            <a:pPr algn="ctr"/>
            <a:r>
              <a:rPr lang="zh-CN" altLang="en-US" sz="1600" b="1" dirty="0">
                <a:solidFill>
                  <a:srgbClr val="C00000"/>
                </a:solidFill>
              </a:rPr>
              <a:t>节省近 3 万美元现金成本，同时提升接单稳定性和服务体验。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6273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4EBC8-6398-621E-717B-738C497DB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B2DF8DD-9BC9-819D-31FD-B6BB133CE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A23C9C3E-1FC1-0CCB-7B96-BA0525121C79}"/>
              </a:ext>
            </a:extLst>
          </p:cNvPr>
          <p:cNvGrpSpPr/>
          <p:nvPr/>
        </p:nvGrpSpPr>
        <p:grpSpPr>
          <a:xfrm flipH="1">
            <a:off x="11282316" y="482347"/>
            <a:ext cx="635000" cy="127253"/>
            <a:chOff x="3044090" y="-1193800"/>
            <a:chExt cx="1477110" cy="296010"/>
          </a:xfrm>
          <a:solidFill>
            <a:schemeClr val="accent2"/>
          </a:solidFill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9070C53A-6E4C-0250-200D-82F4B85A2091}"/>
                </a:ext>
              </a:extLst>
            </p:cNvPr>
            <p:cNvSpPr/>
            <p:nvPr/>
          </p:nvSpPr>
          <p:spPr>
            <a:xfrm>
              <a:off x="3044090" y="-1193800"/>
              <a:ext cx="296010" cy="296010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2AD5C5F-C4CD-E4D3-8E8B-AEEFF543CC0F}"/>
                </a:ext>
              </a:extLst>
            </p:cNvPr>
            <p:cNvSpPr/>
            <p:nvPr/>
          </p:nvSpPr>
          <p:spPr>
            <a:xfrm>
              <a:off x="3634640" y="-1193800"/>
              <a:ext cx="296010" cy="296010"/>
            </a:xfrm>
            <a:prstGeom prst="ellipse">
              <a:avLst/>
            </a:prstGeom>
            <a:grp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1B280E3-9C61-DC08-4D4F-BB564AFE411F}"/>
                </a:ext>
              </a:extLst>
            </p:cNvPr>
            <p:cNvSpPr/>
            <p:nvPr/>
          </p:nvSpPr>
          <p:spPr>
            <a:xfrm>
              <a:off x="4225190" y="-1193800"/>
              <a:ext cx="296010" cy="296010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Bullet1">
            <a:extLst>
              <a:ext uri="{FF2B5EF4-FFF2-40B4-BE49-F238E27FC236}">
                <a16:creationId xmlns:a16="http://schemas.microsoft.com/office/drawing/2014/main" id="{1B5CDD3A-72E8-00FF-32A8-7E0E24EBC1F4}"/>
              </a:ext>
            </a:extLst>
          </p:cNvPr>
          <p:cNvSpPr txBox="1"/>
          <p:nvPr/>
        </p:nvSpPr>
        <p:spPr bwMode="auto">
          <a:xfrm>
            <a:off x="4705105" y="3095280"/>
            <a:ext cx="8418651" cy="5760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 defTabSz="913765">
              <a:buSzPct val="25000"/>
              <a:defRPr/>
            </a:pPr>
            <a:r>
              <a:rPr lang="zh-CN" altLang="en-US" sz="8800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rPr>
              <a:t>市场分析</a:t>
            </a:r>
          </a:p>
        </p:txBody>
      </p:sp>
      <p:sp>
        <p:nvSpPr>
          <p:cNvPr id="11" name="Number1">
            <a:extLst>
              <a:ext uri="{FF2B5EF4-FFF2-40B4-BE49-F238E27FC236}">
                <a16:creationId xmlns:a16="http://schemas.microsoft.com/office/drawing/2014/main" id="{D839469B-F8D2-308E-0944-D0024B4C0B1C}"/>
              </a:ext>
            </a:extLst>
          </p:cNvPr>
          <p:cNvSpPr/>
          <p:nvPr/>
        </p:nvSpPr>
        <p:spPr>
          <a:xfrm>
            <a:off x="8194430" y="1819680"/>
            <a:ext cx="1440001" cy="613425"/>
          </a:xfrm>
          <a:prstGeom prst="round2DiagRect">
            <a:avLst>
              <a:gd name="adj1" fmla="val 0"/>
              <a:gd name="adj2" fmla="val 35305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ffectLst>
            <a:outerShdw blurRad="190500" dist="63500" dir="5400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 anchorCtr="0">
            <a:normAutofit/>
          </a:bodyPr>
          <a:lstStyle/>
          <a:p>
            <a:pPr algn="ctr"/>
            <a:r>
              <a:rPr kumimoji="1" lang="en-US" altLang="zh-CN" sz="2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</a:p>
        </p:txBody>
      </p:sp>
      <p:sp>
        <p:nvSpPr>
          <p:cNvPr id="12" name="Text1">
            <a:extLst>
              <a:ext uri="{FF2B5EF4-FFF2-40B4-BE49-F238E27FC236}">
                <a16:creationId xmlns:a16="http://schemas.microsoft.com/office/drawing/2014/main" id="{A495CBF6-2C11-6BB8-983D-C0D2060A622A}"/>
              </a:ext>
            </a:extLst>
          </p:cNvPr>
          <p:cNvSpPr txBox="1"/>
          <p:nvPr/>
        </p:nvSpPr>
        <p:spPr>
          <a:xfrm>
            <a:off x="6705419" y="4137850"/>
            <a:ext cx="4418023" cy="9675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algn="ctr" defTabSz="913765">
              <a:lnSpc>
                <a:spcPct val="120000"/>
              </a:lnSpc>
              <a:buSzPct val="25000"/>
              <a:defRPr/>
            </a:pPr>
            <a:r>
              <a:rPr lang="zh-CN" altLang="en-US" sz="1200" dirty="0"/>
              <a:t>美国大约有 </a:t>
            </a:r>
            <a:r>
              <a:rPr lang="en-US" altLang="zh-CN" sz="1200" dirty="0"/>
              <a:t>9–10 </a:t>
            </a:r>
            <a:r>
              <a:rPr lang="zh-CN" altLang="en-US" sz="1200" dirty="0"/>
              <a:t>万家亚洲餐厅，其中约 </a:t>
            </a:r>
            <a:r>
              <a:rPr lang="en-US" altLang="zh-CN" sz="1200" dirty="0"/>
              <a:t>2.5–3 </a:t>
            </a:r>
            <a:r>
              <a:rPr lang="zh-CN" altLang="en-US" sz="1200" dirty="0"/>
              <a:t>万家是中餐外送 </a:t>
            </a:r>
            <a:r>
              <a:rPr lang="en-US" altLang="zh-CN" sz="1200" dirty="0"/>
              <a:t>/ </a:t>
            </a:r>
            <a:r>
              <a:rPr lang="zh-CN" altLang="en-US" sz="1200" dirty="0"/>
              <a:t>电话点餐门店，这是我们 </a:t>
            </a:r>
            <a:r>
              <a:rPr lang="en-US" altLang="zh-CN" sz="1200" dirty="0"/>
              <a:t>AI </a:t>
            </a:r>
            <a:r>
              <a:rPr lang="zh-CN" altLang="en-US" sz="1200" dirty="0"/>
              <a:t>语音点餐的核心目标市场。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ctr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Pct val="25000"/>
              <a:buFontTx/>
              <a:buNone/>
              <a:defRPr/>
            </a:pP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B7D2D81-5A08-E5CC-8BC3-1CCBB49D0570}"/>
              </a:ext>
            </a:extLst>
          </p:cNvPr>
          <p:cNvSpPr txBox="1"/>
          <p:nvPr/>
        </p:nvSpPr>
        <p:spPr>
          <a:xfrm>
            <a:off x="6903720" y="6284212"/>
            <a:ext cx="50135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dirty="0"/>
              <a:t>语音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餐饮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应用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223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FCAE-4BA3-AB53-08F7-9EFC99289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6662FD28-58C7-0939-529B-B160A9AFA6E6}"/>
              </a:ext>
            </a:extLst>
          </p:cNvPr>
          <p:cNvGrpSpPr/>
          <p:nvPr/>
        </p:nvGrpSpPr>
        <p:grpSpPr>
          <a:xfrm>
            <a:off x="456861" y="237010"/>
            <a:ext cx="11278278" cy="1049904"/>
            <a:chOff x="456861" y="237010"/>
            <a:chExt cx="11278278" cy="1049904"/>
          </a:xfrm>
        </p:grpSpPr>
        <p:sp>
          <p:nvSpPr>
            <p:cNvPr id="11" name="Bullet1">
              <a:extLst>
                <a:ext uri="{FF2B5EF4-FFF2-40B4-BE49-F238E27FC236}">
                  <a16:creationId xmlns:a16="http://schemas.microsoft.com/office/drawing/2014/main" id="{68EBBC7A-EA2F-D2B0-7590-C403564DB321}"/>
                </a:ext>
              </a:extLst>
            </p:cNvPr>
            <p:cNvSpPr txBox="1"/>
            <p:nvPr/>
          </p:nvSpPr>
          <p:spPr bwMode="auto">
            <a:xfrm>
              <a:off x="1435299" y="237010"/>
              <a:ext cx="10299840" cy="1049904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defTabSz="913765">
                <a:buSzPct val="25000"/>
                <a:defRPr/>
              </a:pPr>
              <a:r>
                <a:rPr lang="zh-CN" altLang="en-US" sz="2800" b="1" dirty="0"/>
                <a:t>美国中餐外送店的可服务市场规模</a:t>
              </a:r>
              <a:br>
                <a:rPr lang="zh-CN" altLang="en-US" sz="2800" dirty="0"/>
              </a:br>
              <a:r>
                <a:rPr lang="en-US" altLang="zh-CN" sz="2800" b="1" dirty="0"/>
                <a:t>Targetable market: US Chinese takeout &amp; delivery</a:t>
              </a:r>
              <a:endParaRPr lang="zh-CN" altLang="en-US" sz="2800" b="1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endParaRPr>
            </a:p>
          </p:txBody>
        </p:sp>
        <p:sp>
          <p:nvSpPr>
            <p:cNvPr id="12" name="Number1">
              <a:extLst>
                <a:ext uri="{FF2B5EF4-FFF2-40B4-BE49-F238E27FC236}">
                  <a16:creationId xmlns:a16="http://schemas.microsoft.com/office/drawing/2014/main" id="{8EA0EE7E-0D38-9AD6-1BA1-59622F9B8C18}"/>
                </a:ext>
              </a:extLst>
            </p:cNvPr>
            <p:cNvSpPr/>
            <p:nvPr/>
          </p:nvSpPr>
          <p:spPr>
            <a:xfrm>
              <a:off x="456861" y="373620"/>
              <a:ext cx="903850" cy="613425"/>
            </a:xfrm>
            <a:prstGeom prst="round2DiagRect">
              <a:avLst>
                <a:gd name="adj1" fmla="val 0"/>
                <a:gd name="adj2" fmla="val 35305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90500" dist="635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kumimoji="1"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04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1B410CEF-C546-7652-EAA0-0E7F714BE0DE}"/>
              </a:ext>
            </a:extLst>
          </p:cNvPr>
          <p:cNvSpPr txBox="1"/>
          <p:nvPr/>
        </p:nvSpPr>
        <p:spPr>
          <a:xfrm>
            <a:off x="1360711" y="5580657"/>
            <a:ext cx="9848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</a:rPr>
              <a:t>美国大约有 </a:t>
            </a:r>
            <a:r>
              <a:rPr lang="en-US" altLang="zh-CN" sz="2000" b="1" dirty="0">
                <a:solidFill>
                  <a:srgbClr val="C00000"/>
                </a:solidFill>
              </a:rPr>
              <a:t>2.5–3 </a:t>
            </a:r>
            <a:r>
              <a:rPr lang="zh-CN" altLang="en-US" sz="2000" b="1" dirty="0">
                <a:solidFill>
                  <a:srgbClr val="C00000"/>
                </a:solidFill>
              </a:rPr>
              <a:t>万家</a:t>
            </a:r>
            <a:r>
              <a:rPr lang="zh-CN" altLang="en-US" sz="2000" dirty="0">
                <a:solidFill>
                  <a:srgbClr val="C00000"/>
                </a:solidFill>
              </a:rPr>
              <a:t>中餐外送 </a:t>
            </a:r>
            <a:r>
              <a:rPr lang="en-US" altLang="zh-CN" sz="2000" dirty="0">
                <a:solidFill>
                  <a:srgbClr val="C00000"/>
                </a:solidFill>
              </a:rPr>
              <a:t>/ </a:t>
            </a:r>
            <a:r>
              <a:rPr lang="zh-CN" altLang="en-US" sz="2000" dirty="0">
                <a:solidFill>
                  <a:srgbClr val="C00000"/>
                </a:solidFill>
              </a:rPr>
              <a:t>电话点餐店，这是我们 </a:t>
            </a:r>
            <a:r>
              <a:rPr lang="en-US" altLang="zh-CN" sz="2000" dirty="0">
                <a:solidFill>
                  <a:srgbClr val="C00000"/>
                </a:solidFill>
              </a:rPr>
              <a:t>AI </a:t>
            </a:r>
            <a:r>
              <a:rPr lang="zh-CN" altLang="en-US" sz="2000" dirty="0">
                <a:solidFill>
                  <a:srgbClr val="C00000"/>
                </a:solidFill>
              </a:rPr>
              <a:t>点餐系统最核心、也最容易集中打穿的目标市场。</a:t>
            </a:r>
            <a:endParaRPr lang="zh-CN" altLang="en-US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1A381AC-9374-5692-D52F-ED6F0A04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72" r="7477" b="16336"/>
          <a:stretch>
            <a:fillRect/>
          </a:stretch>
        </p:blipFill>
        <p:spPr>
          <a:xfrm>
            <a:off x="8353046" y="2444626"/>
            <a:ext cx="3484913" cy="292041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CCEC210-37B1-1C19-70D4-C67B588A7CAF}"/>
              </a:ext>
            </a:extLst>
          </p:cNvPr>
          <p:cNvSpPr txBox="1"/>
          <p:nvPr/>
        </p:nvSpPr>
        <p:spPr>
          <a:xfrm>
            <a:off x="992172" y="1394722"/>
            <a:ext cx="88117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· 数据来源：SmartScrapers（2025-10-15），全美共有约 37,421 家中餐馆。</a:t>
            </a:r>
          </a:p>
          <a:p>
            <a:endParaRPr lang="zh-CN" altLang="en-US" dirty="0"/>
          </a:p>
          <a:p>
            <a:r>
              <a:rPr lang="zh-CN" altLang="en-US" dirty="0"/>
              <a:t>· 行业样本显示，中餐馆普遍带有 “takeout / delivery / Chinese takeaway” 标签，</a:t>
            </a:r>
          </a:p>
          <a:p>
            <a:r>
              <a:rPr lang="zh-CN" altLang="en-US" dirty="0"/>
              <a:t>  尤其是美式中餐和 strip mall 门店。</a:t>
            </a:r>
          </a:p>
          <a:p>
            <a:endParaRPr lang="zh-CN" altLang="en-US" dirty="0"/>
          </a:p>
          <a:p>
            <a:r>
              <a:rPr lang="zh-CN" altLang="en-US" dirty="0"/>
              <a:t>· 保守假设：约 70% 中餐馆有稳定外送/电话点餐业务 →</a:t>
            </a:r>
          </a:p>
          <a:p>
            <a:r>
              <a:rPr lang="zh-CN" altLang="en-US" dirty="0"/>
              <a:t>  中餐外送/电话点餐店 ≈ 37,421 × 70% ≈ 26,000 家（合理区间 25k–30k）。</a:t>
            </a:r>
          </a:p>
          <a:p>
            <a:endParaRPr lang="zh-CN" altLang="en-US" dirty="0"/>
          </a:p>
          <a:p>
            <a:r>
              <a:rPr lang="zh-CN" altLang="en-US" dirty="0"/>
              <a:t>· Pew 等研究估算：全美约 9–10 万家亚洲餐厅（占全部餐厅约 12%），</a:t>
            </a:r>
          </a:p>
          <a:p>
            <a:r>
              <a:rPr lang="zh-CN" altLang="en-US" dirty="0"/>
              <a:t>  其中约 39% 为中餐馆，对应 3.5–4 万家，与 37,421 的量级高度吻合。</a:t>
            </a:r>
          </a:p>
          <a:p>
            <a:endParaRPr lang="zh-CN" altLang="en-US" dirty="0"/>
          </a:p>
          <a:p>
            <a:r>
              <a:rPr lang="zh-CN" altLang="en-US" dirty="0"/>
              <a:t>· 按“中餐外送店 ≈ 中餐馆的 70%” 计算：</a:t>
            </a:r>
          </a:p>
          <a:p>
            <a:r>
              <a:rPr lang="zh-CN" altLang="en-US" dirty="0"/>
              <a:t>  中餐外送店约 26,000 家，占全部亚洲餐厅的约 26–30%，</a:t>
            </a:r>
          </a:p>
          <a:p>
            <a:r>
              <a:rPr lang="zh-CN" altLang="en-US" dirty="0"/>
              <a:t>  占美国全部餐厅的约 3–4%。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8234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B549F-F0B4-B7AA-0B1E-692434309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82467F9F-C44C-929C-FDEB-4C3A9B53DA4F}"/>
              </a:ext>
            </a:extLst>
          </p:cNvPr>
          <p:cNvGrpSpPr/>
          <p:nvPr/>
        </p:nvGrpSpPr>
        <p:grpSpPr>
          <a:xfrm>
            <a:off x="456861" y="373620"/>
            <a:ext cx="11278278" cy="683546"/>
            <a:chOff x="456861" y="373620"/>
            <a:chExt cx="11278278" cy="683546"/>
          </a:xfrm>
        </p:grpSpPr>
        <p:sp>
          <p:nvSpPr>
            <p:cNvPr id="11" name="Bullet1">
              <a:extLst>
                <a:ext uri="{FF2B5EF4-FFF2-40B4-BE49-F238E27FC236}">
                  <a16:creationId xmlns:a16="http://schemas.microsoft.com/office/drawing/2014/main" id="{F74F610E-BA71-ED99-D72B-D0270DA25B8A}"/>
                </a:ext>
              </a:extLst>
            </p:cNvPr>
            <p:cNvSpPr txBox="1"/>
            <p:nvPr/>
          </p:nvSpPr>
          <p:spPr bwMode="auto">
            <a:xfrm>
              <a:off x="1435299" y="481166"/>
              <a:ext cx="10299840" cy="57600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defTabSz="913765">
                <a:buSzPct val="25000"/>
                <a:defRPr/>
              </a:pPr>
              <a:r>
                <a:rPr lang="zh-CN" altLang="en-US" sz="2800" b="1" dirty="0"/>
                <a:t>按州拆分：中餐馆与中餐外送店分布</a:t>
              </a:r>
              <a:br>
                <a:rPr lang="zh-CN" altLang="en-US" sz="2800" dirty="0"/>
              </a:br>
              <a:r>
                <a:rPr lang="en-US" altLang="zh-CN" sz="2800" b="1" dirty="0"/>
                <a:t>State breakdown of Chinese restaurants &amp; takeout</a:t>
              </a:r>
              <a:endParaRPr lang="zh-CN" altLang="en-US" sz="2800" b="1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endParaRPr>
            </a:p>
          </p:txBody>
        </p:sp>
        <p:sp>
          <p:nvSpPr>
            <p:cNvPr id="12" name="Number1">
              <a:extLst>
                <a:ext uri="{FF2B5EF4-FFF2-40B4-BE49-F238E27FC236}">
                  <a16:creationId xmlns:a16="http://schemas.microsoft.com/office/drawing/2014/main" id="{BC93E1F6-E5AD-B6A8-1718-2B75373A65CB}"/>
                </a:ext>
              </a:extLst>
            </p:cNvPr>
            <p:cNvSpPr/>
            <p:nvPr/>
          </p:nvSpPr>
          <p:spPr>
            <a:xfrm>
              <a:off x="456861" y="373620"/>
              <a:ext cx="903850" cy="613425"/>
            </a:xfrm>
            <a:prstGeom prst="round2DiagRect">
              <a:avLst>
                <a:gd name="adj1" fmla="val 0"/>
                <a:gd name="adj2" fmla="val 35305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90500" dist="635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kumimoji="1"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04</a:t>
              </a:r>
            </a:p>
          </p:txBody>
        </p:sp>
      </p:grp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95C7896-645D-33FA-C779-130B752F1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777278"/>
              </p:ext>
            </p:extLst>
          </p:nvPr>
        </p:nvGraphicFramePr>
        <p:xfrm>
          <a:off x="7183225" y="1375298"/>
          <a:ext cx="4667270" cy="5001536"/>
        </p:xfrm>
        <a:graphic>
          <a:graphicData uri="http://schemas.openxmlformats.org/drawingml/2006/table">
            <a:tbl>
              <a:tblPr/>
              <a:tblGrid>
                <a:gridCol w="933454">
                  <a:extLst>
                    <a:ext uri="{9D8B030D-6E8A-4147-A177-3AD203B41FA5}">
                      <a16:colId xmlns:a16="http://schemas.microsoft.com/office/drawing/2014/main" val="2176064871"/>
                    </a:ext>
                  </a:extLst>
                </a:gridCol>
                <a:gridCol w="933454">
                  <a:extLst>
                    <a:ext uri="{9D8B030D-6E8A-4147-A177-3AD203B41FA5}">
                      <a16:colId xmlns:a16="http://schemas.microsoft.com/office/drawing/2014/main" val="1627443737"/>
                    </a:ext>
                  </a:extLst>
                </a:gridCol>
                <a:gridCol w="933454">
                  <a:extLst>
                    <a:ext uri="{9D8B030D-6E8A-4147-A177-3AD203B41FA5}">
                      <a16:colId xmlns:a16="http://schemas.microsoft.com/office/drawing/2014/main" val="1584159339"/>
                    </a:ext>
                  </a:extLst>
                </a:gridCol>
                <a:gridCol w="933454">
                  <a:extLst>
                    <a:ext uri="{9D8B030D-6E8A-4147-A177-3AD203B41FA5}">
                      <a16:colId xmlns:a16="http://schemas.microsoft.com/office/drawing/2014/main" val="1030646669"/>
                    </a:ext>
                  </a:extLst>
                </a:gridCol>
                <a:gridCol w="933454">
                  <a:extLst>
                    <a:ext uri="{9D8B030D-6E8A-4147-A177-3AD203B41FA5}">
                      <a16:colId xmlns:a16="http://schemas.microsoft.com/office/drawing/2014/main" val="4203402974"/>
                    </a:ext>
                  </a:extLst>
                </a:gridCol>
              </a:tblGrid>
              <a:tr h="431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排名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 dirty="0"/>
                        <a:t>州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中餐馆数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占全国中餐比例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估算外送中餐数量*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857765"/>
                  </a:ext>
                </a:extLst>
              </a:tr>
              <a:tr h="24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1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 dirty="0"/>
                        <a:t>加州</a:t>
                      </a:r>
                      <a:r>
                        <a:rPr lang="en-US" sz="1300" dirty="0"/>
                        <a:t>CA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5,675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15.2%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≈ </a:t>
                      </a:r>
                      <a:r>
                        <a:rPr lang="en-US" altLang="zh-CN" sz="1300"/>
                        <a:t>3,970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804253"/>
                  </a:ext>
                </a:extLst>
              </a:tr>
              <a:tr h="24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2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 dirty="0"/>
                        <a:t>纽约</a:t>
                      </a:r>
                      <a:r>
                        <a:rPr lang="en-US" sz="1300" dirty="0"/>
                        <a:t>NY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 dirty="0"/>
                        <a:t>4,219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 dirty="0"/>
                        <a:t>11.3%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≈ </a:t>
                      </a:r>
                      <a:r>
                        <a:rPr lang="en-US" altLang="zh-CN" sz="1300"/>
                        <a:t>2,950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280819"/>
                  </a:ext>
                </a:extLst>
              </a:tr>
              <a:tr h="24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3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 dirty="0"/>
                        <a:t>德州</a:t>
                      </a:r>
                      <a:r>
                        <a:rPr lang="en-US" sz="1300" dirty="0"/>
                        <a:t>TX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2,900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7.7%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≈ </a:t>
                      </a:r>
                      <a:r>
                        <a:rPr lang="en-US" altLang="zh-CN" sz="1300"/>
                        <a:t>2,030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890548"/>
                  </a:ext>
                </a:extLst>
              </a:tr>
              <a:tr h="24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4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 dirty="0"/>
                        <a:t>佛州</a:t>
                      </a:r>
                      <a:r>
                        <a:rPr lang="en-US" sz="1300" dirty="0"/>
                        <a:t>FL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 dirty="0"/>
                        <a:t>2,279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6.1%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≈ </a:t>
                      </a:r>
                      <a:r>
                        <a:rPr lang="en-US" altLang="zh-CN" sz="1300"/>
                        <a:t>1,595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842031"/>
                  </a:ext>
                </a:extLst>
              </a:tr>
              <a:tr h="24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5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 dirty="0"/>
                        <a:t>宾州</a:t>
                      </a:r>
                      <a:r>
                        <a:rPr lang="en-US" sz="1300" dirty="0"/>
                        <a:t>PA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1,836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4.9%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≈ </a:t>
                      </a:r>
                      <a:r>
                        <a:rPr lang="en-US" altLang="zh-CN" sz="1300"/>
                        <a:t>1,285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488663"/>
                  </a:ext>
                </a:extLst>
              </a:tr>
              <a:tr h="24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6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 dirty="0"/>
                        <a:t>新泽西</a:t>
                      </a:r>
                      <a:r>
                        <a:rPr lang="en-US" sz="1300" dirty="0"/>
                        <a:t>NJ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1,672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4.5%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≈ </a:t>
                      </a:r>
                      <a:r>
                        <a:rPr lang="en-US" altLang="zh-CN" sz="1300"/>
                        <a:t>1,170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34324"/>
                  </a:ext>
                </a:extLst>
              </a:tr>
              <a:tr h="24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7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 dirty="0"/>
                        <a:t>伊利诺伊</a:t>
                      </a:r>
                      <a:r>
                        <a:rPr lang="en-US" sz="1300" dirty="0"/>
                        <a:t>IL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1,313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3.5%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≈ </a:t>
                      </a:r>
                      <a:r>
                        <a:rPr lang="en-US" altLang="zh-CN" sz="1300"/>
                        <a:t>920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331093"/>
                  </a:ext>
                </a:extLst>
              </a:tr>
              <a:tr h="24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8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 dirty="0"/>
                        <a:t>佐治亚</a:t>
                      </a:r>
                      <a:r>
                        <a:rPr lang="en-US" sz="1300" dirty="0"/>
                        <a:t>GA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1,102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2.9%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≈ </a:t>
                      </a:r>
                      <a:r>
                        <a:rPr lang="en-US" altLang="zh-CN" sz="1300"/>
                        <a:t>770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616408"/>
                  </a:ext>
                </a:extLst>
              </a:tr>
              <a:tr h="24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9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 dirty="0"/>
                        <a:t>弗吉尼亚</a:t>
                      </a:r>
                      <a:r>
                        <a:rPr lang="en-US" sz="1300" dirty="0"/>
                        <a:t>VA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1,087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2.9%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≈ </a:t>
                      </a:r>
                      <a:r>
                        <a:rPr lang="en-US" altLang="zh-CN" sz="1300"/>
                        <a:t>760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862580"/>
                  </a:ext>
                </a:extLst>
              </a:tr>
              <a:tr h="24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10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 dirty="0"/>
                        <a:t>北卡</a:t>
                      </a:r>
                      <a:r>
                        <a:rPr lang="en-US" sz="1300" dirty="0"/>
                        <a:t>NC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1,060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2.8%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≈ </a:t>
                      </a:r>
                      <a:r>
                        <a:rPr lang="en-US" altLang="zh-CN" sz="1300"/>
                        <a:t>740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5871"/>
                  </a:ext>
                </a:extLst>
              </a:tr>
              <a:tr h="24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11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 dirty="0"/>
                        <a:t>俄亥俄</a:t>
                      </a:r>
                      <a:r>
                        <a:rPr lang="en-US" sz="1300" dirty="0"/>
                        <a:t>OH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1,056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2.8%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≈ </a:t>
                      </a:r>
                      <a:r>
                        <a:rPr lang="en-US" altLang="zh-CN" sz="1300"/>
                        <a:t>740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983450"/>
                  </a:ext>
                </a:extLst>
              </a:tr>
              <a:tr h="24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12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 dirty="0"/>
                        <a:t>马里兰</a:t>
                      </a:r>
                      <a:r>
                        <a:rPr lang="en-US" sz="1300" dirty="0"/>
                        <a:t>MD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995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2.7%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≈ </a:t>
                      </a:r>
                      <a:r>
                        <a:rPr lang="en-US" altLang="zh-CN" sz="1300"/>
                        <a:t>700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49203"/>
                  </a:ext>
                </a:extLst>
              </a:tr>
              <a:tr h="24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13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 dirty="0"/>
                        <a:t>马萨诸塞</a:t>
                      </a:r>
                      <a:r>
                        <a:rPr lang="en-US" sz="1300" dirty="0"/>
                        <a:t>MA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981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2.6%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≈ </a:t>
                      </a:r>
                      <a:r>
                        <a:rPr lang="en-US" altLang="zh-CN" sz="1300"/>
                        <a:t>690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936031"/>
                  </a:ext>
                </a:extLst>
              </a:tr>
              <a:tr h="24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14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 dirty="0"/>
                        <a:t>密歇根</a:t>
                      </a:r>
                      <a:r>
                        <a:rPr lang="en-US" sz="1300" dirty="0"/>
                        <a:t>MI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811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2.2%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/>
                        <a:t>≈ </a:t>
                      </a:r>
                      <a:r>
                        <a:rPr lang="en-US" altLang="zh-CN" sz="1300"/>
                        <a:t>570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666737"/>
                  </a:ext>
                </a:extLst>
              </a:tr>
              <a:tr h="24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15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 dirty="0"/>
                        <a:t>华盛顿州</a:t>
                      </a:r>
                      <a:r>
                        <a:rPr lang="en-US" sz="1300" dirty="0"/>
                        <a:t>WA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730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/>
                        <a:t>2.0%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 dirty="0"/>
                        <a:t>≈ </a:t>
                      </a:r>
                      <a:r>
                        <a:rPr lang="en-US" altLang="zh-CN" sz="1300" dirty="0"/>
                        <a:t>510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4078189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57E1C991-3033-5147-B9C0-174150F42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299" y="4300272"/>
            <a:ext cx="4747810" cy="237390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8E6F96C-7B77-E148-1EB0-B0DA4E967352}"/>
              </a:ext>
            </a:extLst>
          </p:cNvPr>
          <p:cNvSpPr txBox="1"/>
          <p:nvPr/>
        </p:nvSpPr>
        <p:spPr>
          <a:xfrm>
            <a:off x="604102" y="1257028"/>
            <a:ext cx="67205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· SmartScrapers 统计：全美中餐馆总数为 37,421 家，</a:t>
            </a:r>
          </a:p>
          <a:p>
            <a:r>
              <a:rPr lang="zh-CN" altLang="en-US" dirty="0"/>
              <a:t>  其中约 70% 带有外送 / 电话点餐功能。</a:t>
            </a:r>
          </a:p>
          <a:p>
            <a:endParaRPr lang="zh-CN" altLang="en-US" dirty="0"/>
          </a:p>
          <a:p>
            <a:r>
              <a:rPr lang="zh-CN" altLang="en-US" dirty="0"/>
              <a:t>· 前 15 个州集中了承载超过一半的中餐馆，是我们最优先关注的区域市场。</a:t>
            </a:r>
          </a:p>
          <a:p>
            <a:endParaRPr lang="zh-CN" altLang="en-US" dirty="0"/>
          </a:p>
          <a:p>
            <a:r>
              <a:rPr lang="zh-CN" altLang="en-US" dirty="0"/>
              <a:t>· 其中，</a:t>
            </a:r>
            <a:r>
              <a:rPr lang="zh-CN" altLang="en-US" b="1" dirty="0">
                <a:solidFill>
                  <a:srgbClr val="C00000"/>
                </a:solidFill>
              </a:rPr>
              <a:t>CA、NY、TX、FL、PA、NJ </a:t>
            </a:r>
            <a:r>
              <a:rPr lang="zh-CN" altLang="en-US" dirty="0"/>
              <a:t>六个州合计约 17,000 家中餐馆，</a:t>
            </a:r>
          </a:p>
          <a:p>
            <a:r>
              <a:rPr lang="zh-CN" altLang="en-US" dirty="0"/>
              <a:t>  对应约 12,000 家中餐外送店，占全美中餐外送店的约一半。</a:t>
            </a:r>
          </a:p>
          <a:p>
            <a:endParaRPr lang="zh-CN" altLang="en-US" dirty="0"/>
          </a:p>
          <a:p>
            <a:r>
              <a:rPr lang="zh-CN" altLang="en-US" dirty="0"/>
              <a:t>· 对于线下 BD 和电话销售，这 6 个州 + 周边州构成一条非常清晰的“优先攻击带”。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8909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3AA40-AA1F-4E75-A708-BCF0F2B9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165E1DD6-B442-B9C1-D152-2366AE473278}"/>
              </a:ext>
            </a:extLst>
          </p:cNvPr>
          <p:cNvGrpSpPr/>
          <p:nvPr/>
        </p:nvGrpSpPr>
        <p:grpSpPr>
          <a:xfrm>
            <a:off x="456861" y="373620"/>
            <a:ext cx="11278278" cy="625104"/>
            <a:chOff x="456861" y="373620"/>
            <a:chExt cx="11278278" cy="625104"/>
          </a:xfrm>
        </p:grpSpPr>
        <p:sp>
          <p:nvSpPr>
            <p:cNvPr id="11" name="Bullet1">
              <a:extLst>
                <a:ext uri="{FF2B5EF4-FFF2-40B4-BE49-F238E27FC236}">
                  <a16:creationId xmlns:a16="http://schemas.microsoft.com/office/drawing/2014/main" id="{C41020DF-0560-04E9-3825-8AD5EA741FAC}"/>
                </a:ext>
              </a:extLst>
            </p:cNvPr>
            <p:cNvSpPr txBox="1"/>
            <p:nvPr/>
          </p:nvSpPr>
          <p:spPr bwMode="auto">
            <a:xfrm>
              <a:off x="1435299" y="422724"/>
              <a:ext cx="10299840" cy="57600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defTabSz="913765">
                <a:buSzPct val="25000"/>
                <a:defRPr/>
              </a:pPr>
              <a:r>
                <a:rPr lang="zh-CN" altLang="en-US" sz="2800" b="1" dirty="0"/>
                <a:t>都会区聚集效应：优先从华人最集中的城市突破</a:t>
              </a:r>
              <a:br>
                <a:rPr lang="zh-CN" altLang="en-US" sz="2800" dirty="0"/>
              </a:br>
              <a:r>
                <a:rPr lang="en-US" altLang="zh-CN" sz="2800" b="1" dirty="0"/>
                <a:t>Metro focus: start from Chinese-dense metro areas</a:t>
              </a:r>
              <a:endParaRPr lang="zh-CN" altLang="en-US" sz="2800" b="1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endParaRPr>
            </a:p>
          </p:txBody>
        </p:sp>
        <p:sp>
          <p:nvSpPr>
            <p:cNvPr id="12" name="Number1">
              <a:extLst>
                <a:ext uri="{FF2B5EF4-FFF2-40B4-BE49-F238E27FC236}">
                  <a16:creationId xmlns:a16="http://schemas.microsoft.com/office/drawing/2014/main" id="{B35B1D5D-223E-E239-2F25-9F62B97C2B40}"/>
                </a:ext>
              </a:extLst>
            </p:cNvPr>
            <p:cNvSpPr/>
            <p:nvPr/>
          </p:nvSpPr>
          <p:spPr>
            <a:xfrm>
              <a:off x="456861" y="373620"/>
              <a:ext cx="903850" cy="613425"/>
            </a:xfrm>
            <a:prstGeom prst="round2DiagRect">
              <a:avLst>
                <a:gd name="adj1" fmla="val 0"/>
                <a:gd name="adj2" fmla="val 35305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90500" dist="635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kumimoji="1"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04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E793E7E9-A3B6-0611-5338-0E5823F37BA2}"/>
              </a:ext>
            </a:extLst>
          </p:cNvPr>
          <p:cNvSpPr txBox="1"/>
          <p:nvPr/>
        </p:nvSpPr>
        <p:spPr>
          <a:xfrm>
            <a:off x="2912675" y="6111555"/>
            <a:ext cx="7118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第一梯队用于打样板、第二梯队负责放大规模</a:t>
            </a:r>
            <a:r>
              <a:rPr lang="en-US" altLang="zh-CN" b="1" dirty="0">
                <a:solidFill>
                  <a:srgbClr val="C00000"/>
                </a:solidFill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</a:rPr>
              <a:t>这是我们城市级的进入顺序。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61E042-BBF3-BF1C-ECBD-57B62E2EA436}"/>
              </a:ext>
            </a:extLst>
          </p:cNvPr>
          <p:cNvSpPr txBox="1"/>
          <p:nvPr/>
        </p:nvSpPr>
        <p:spPr>
          <a:xfrm>
            <a:off x="1109423" y="1033242"/>
            <a:ext cx="1095158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· Pew + SafeGraph 数据显示，约 45% 的亚洲餐厅集中在 5 个州：</a:t>
            </a:r>
            <a:r>
              <a:rPr lang="zh-CN" altLang="en-US" b="1" dirty="0">
                <a:solidFill>
                  <a:srgbClr val="C00000"/>
                </a:solidFill>
              </a:rPr>
              <a:t>CA、NY、TX、NJ、WA，</a:t>
            </a:r>
          </a:p>
          <a:p>
            <a:r>
              <a:rPr lang="zh-CN" altLang="en-US" dirty="0"/>
              <a:t>  这些州的核心都会区也是中餐外送最密集的区域。</a:t>
            </a:r>
          </a:p>
          <a:p>
            <a:endParaRPr lang="zh-CN" altLang="en-US" dirty="0"/>
          </a:p>
          <a:p>
            <a:r>
              <a:rPr lang="zh-CN" altLang="en-US" dirty="0"/>
              <a:t>· 第一梯队都会区：通常拥有 500–1,500 家中餐馆，其中 60–80% 具备外送/电话点餐能力，</a:t>
            </a:r>
          </a:p>
          <a:p>
            <a:r>
              <a:rPr lang="zh-CN" altLang="en-US" dirty="0"/>
              <a:t>  适合作为早期标杆市场。</a:t>
            </a:r>
          </a:p>
          <a:p>
            <a:r>
              <a:rPr lang="zh-CN" altLang="en-US" dirty="0"/>
              <a:t>  - 纽约都会区：NYC + Flushing + Long Island + 北新泽西</a:t>
            </a:r>
          </a:p>
          <a:p>
            <a:r>
              <a:rPr lang="zh-CN" altLang="en-US" dirty="0"/>
              <a:t>  - 洛杉矶 / San Gabriel Valley</a:t>
            </a:r>
          </a:p>
          <a:p>
            <a:r>
              <a:rPr lang="zh-CN" altLang="en-US" dirty="0"/>
              <a:t>  - 旧金山湾区：SF / East Bay / San Jose</a:t>
            </a:r>
          </a:p>
          <a:p>
            <a:r>
              <a:rPr lang="zh-CN" altLang="en-US" dirty="0"/>
              <a:t>  - 休斯顿、达拉斯</a:t>
            </a:r>
          </a:p>
          <a:p>
            <a:r>
              <a:rPr lang="zh-CN" altLang="en-US" dirty="0"/>
              <a:t>  - 西雅图、芝加哥</a:t>
            </a:r>
          </a:p>
          <a:p>
            <a:endParaRPr lang="zh-CN" altLang="en-US" dirty="0"/>
          </a:p>
          <a:p>
            <a:r>
              <a:rPr lang="zh-CN" altLang="en-US" dirty="0"/>
              <a:t>· 第二梯队城市：中餐馆数量一般在 100–400 家，适合在形成标杆后做复制扩张。</a:t>
            </a:r>
          </a:p>
          <a:p>
            <a:r>
              <a:rPr lang="zh-CN" altLang="en-US" dirty="0"/>
              <a:t>  - Boston、Philadelphia、Atlanta、Miami、Orlando</a:t>
            </a:r>
          </a:p>
          <a:p>
            <a:r>
              <a:rPr lang="zh-CN" altLang="en-US" dirty="0"/>
              <a:t>  - Washington DC / Baltimore 区域（MD + Northern Virginia）</a:t>
            </a:r>
          </a:p>
          <a:p>
            <a:r>
              <a:rPr lang="zh-CN" altLang="en-US" dirty="0"/>
              <a:t>  - Denver、Phoenix、Portland、Minneapolis 等</a:t>
            </a:r>
          </a:p>
          <a:p>
            <a:endParaRPr lang="zh-CN" altLang="en-US" dirty="0"/>
          </a:p>
          <a:p>
            <a:r>
              <a:rPr lang="zh-CN" altLang="en-US" dirty="0"/>
              <a:t>· 策略含义：先在一线都会区做出 3–5 个标杆案例，再以这些城市为中心</a:t>
            </a:r>
          </a:p>
          <a:p>
            <a:r>
              <a:rPr lang="zh-CN" altLang="en-US" dirty="0"/>
              <a:t>  向周边一小时车程内“圈地”，逐步覆盖第二梯队城市。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8920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E05EF-D3CE-F175-B6AE-B9C1E2EEA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10DBA93B-194F-6D20-3D45-F76E8277B399}"/>
              </a:ext>
            </a:extLst>
          </p:cNvPr>
          <p:cNvGrpSpPr/>
          <p:nvPr/>
        </p:nvGrpSpPr>
        <p:grpSpPr>
          <a:xfrm>
            <a:off x="456861" y="373620"/>
            <a:ext cx="11278278" cy="625104"/>
            <a:chOff x="456861" y="373620"/>
            <a:chExt cx="11278278" cy="625104"/>
          </a:xfrm>
        </p:grpSpPr>
        <p:sp>
          <p:nvSpPr>
            <p:cNvPr id="11" name="Bullet1">
              <a:extLst>
                <a:ext uri="{FF2B5EF4-FFF2-40B4-BE49-F238E27FC236}">
                  <a16:creationId xmlns:a16="http://schemas.microsoft.com/office/drawing/2014/main" id="{4E41BB88-A429-28E9-FB34-4C38C2BD19A7}"/>
                </a:ext>
              </a:extLst>
            </p:cNvPr>
            <p:cNvSpPr txBox="1"/>
            <p:nvPr/>
          </p:nvSpPr>
          <p:spPr bwMode="auto">
            <a:xfrm>
              <a:off x="1435299" y="422724"/>
              <a:ext cx="10299840" cy="57600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defTabSz="913765">
                <a:buSzPct val="25000"/>
                <a:defRPr/>
              </a:pPr>
              <a:r>
                <a:rPr lang="zh-CN" altLang="en-US" sz="2800" b="1" dirty="0"/>
                <a:t>市场进入策略：从 </a:t>
              </a:r>
              <a:r>
                <a:rPr lang="en-US" altLang="zh-CN" sz="2800" b="1" dirty="0"/>
                <a:t>6 </a:t>
              </a:r>
              <a:r>
                <a:rPr lang="zh-CN" altLang="en-US" sz="2800" b="1" dirty="0"/>
                <a:t>大州、</a:t>
              </a:r>
              <a:r>
                <a:rPr lang="en-US" altLang="zh-CN" sz="2800" b="1" dirty="0"/>
                <a:t>10 </a:t>
              </a:r>
              <a:r>
                <a:rPr lang="zh-CN" altLang="en-US" sz="2800" b="1" dirty="0"/>
                <a:t>余个都会区起步</a:t>
              </a:r>
              <a:br>
                <a:rPr lang="zh-CN" altLang="en-US" sz="2800" dirty="0"/>
              </a:br>
              <a:r>
                <a:rPr lang="en-US" altLang="zh-CN" sz="2800" b="1" dirty="0"/>
                <a:t>Go-to-market: start with 6 key states and 10+ core metro areas</a:t>
              </a:r>
              <a:endParaRPr lang="zh-CN" altLang="en-US" sz="2800" b="1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endParaRPr>
            </a:p>
          </p:txBody>
        </p:sp>
        <p:sp>
          <p:nvSpPr>
            <p:cNvPr id="12" name="Number1">
              <a:extLst>
                <a:ext uri="{FF2B5EF4-FFF2-40B4-BE49-F238E27FC236}">
                  <a16:creationId xmlns:a16="http://schemas.microsoft.com/office/drawing/2014/main" id="{16B3DFC6-3392-A8C9-23F4-019CCEBE2A0A}"/>
                </a:ext>
              </a:extLst>
            </p:cNvPr>
            <p:cNvSpPr/>
            <p:nvPr/>
          </p:nvSpPr>
          <p:spPr>
            <a:xfrm>
              <a:off x="456861" y="373620"/>
              <a:ext cx="903850" cy="613425"/>
            </a:xfrm>
            <a:prstGeom prst="round2DiagRect">
              <a:avLst>
                <a:gd name="adj1" fmla="val 0"/>
                <a:gd name="adj2" fmla="val 35305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90500" dist="635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kumimoji="1"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04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5F58C783-CADE-5F71-766B-AFA925EEA0F4}"/>
              </a:ext>
            </a:extLst>
          </p:cNvPr>
          <p:cNvSpPr txBox="1"/>
          <p:nvPr/>
        </p:nvSpPr>
        <p:spPr>
          <a:xfrm>
            <a:off x="2358786" y="6068500"/>
            <a:ext cx="7622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b="1" dirty="0">
                <a:solidFill>
                  <a:srgbClr val="C00000"/>
                </a:solidFill>
                <a:latin typeface="Arial" panose="020B0604020202020204" pitchFamily="34" charset="0"/>
              </a:rPr>
              <a:t>我们一开始锁定全美约 2.5–3 万家中餐外送店，其中一半集中在 10 个州和十几个都会区，是一个高度分散但数据化程度很低的市场。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CA069B-62A5-AA8F-BF2B-4F71915D4916}"/>
              </a:ext>
            </a:extLst>
          </p:cNvPr>
          <p:cNvSpPr txBox="1"/>
          <p:nvPr/>
        </p:nvSpPr>
        <p:spPr>
          <a:xfrm>
            <a:off x="1142999" y="1132955"/>
            <a:ext cx="827437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· 优先州（第一波 Wave 1）</a:t>
            </a:r>
          </a:p>
          <a:p>
            <a:r>
              <a:rPr lang="zh-CN" altLang="en-US" dirty="0"/>
              <a:t>  - CA、NY、TX、FL、NJ、PA</a:t>
            </a:r>
          </a:p>
          <a:p>
            <a:r>
              <a:rPr lang="zh-CN" altLang="en-US" dirty="0"/>
              <a:t>  - 特点：中餐外送店高度集中、人力成本高、对自动化接受度强。</a:t>
            </a:r>
          </a:p>
          <a:p>
            <a:endParaRPr lang="zh-CN" altLang="en-US" dirty="0"/>
          </a:p>
          <a:p>
            <a:r>
              <a:rPr lang="zh-CN" altLang="en-US" dirty="0"/>
              <a:t>· 第二波州（Wave 2）</a:t>
            </a:r>
          </a:p>
          <a:p>
            <a:r>
              <a:rPr lang="zh-CN" altLang="en-US" dirty="0"/>
              <a:t>  - IL、GA、VA、NC、MD、MA、WA</a:t>
            </a:r>
          </a:p>
          <a:p>
            <a:r>
              <a:rPr lang="zh-CN" altLang="en-US" dirty="0"/>
              <a:t>  - 特点：华人/亚洲人口持续增长，中餐馆密度可观，适合在标杆基础上快速复制。</a:t>
            </a:r>
          </a:p>
          <a:p>
            <a:endParaRPr lang="zh-CN" altLang="en-US" dirty="0"/>
          </a:p>
          <a:p>
            <a:r>
              <a:rPr lang="zh-CN" altLang="en-US" dirty="0"/>
              <a:t>· 优先都会区（城市级打法）</a:t>
            </a:r>
          </a:p>
          <a:p>
            <a:r>
              <a:rPr lang="zh-CN" altLang="en-US" dirty="0"/>
              <a:t>  - Tier 1：NYC、LA/SGV、SF Bay、Houston、Dallas、Seattle、Chicago</a:t>
            </a:r>
          </a:p>
          <a:p>
            <a:r>
              <a:rPr lang="zh-CN" altLang="en-US" dirty="0"/>
              <a:t>  - Tier 2：Boston、Philly、Atlanta、Miami、Orlando、DC Area、Denver、Phoenix、Portland、Minneapolis…</a:t>
            </a:r>
          </a:p>
          <a:p>
            <a:endParaRPr lang="zh-CN" altLang="en-US" dirty="0"/>
          </a:p>
          <a:p>
            <a:r>
              <a:rPr lang="zh-CN" altLang="en-US" dirty="0"/>
              <a:t>· 执行路径（极简版）</a:t>
            </a:r>
          </a:p>
          <a:p>
            <a:r>
              <a:rPr lang="zh-CN" altLang="en-US" dirty="0"/>
              <a:t>  1）Year 1：在 Tier 1 都会区落地 3–5 个标杆门店/连锁，验证 ROI；</a:t>
            </a:r>
          </a:p>
          <a:p>
            <a:r>
              <a:rPr lang="zh-CN" altLang="en-US" dirty="0"/>
              <a:t>  2）围绕标杆城市，覆盖同州及一小时车程内的中餐外送店；</a:t>
            </a:r>
          </a:p>
          <a:p>
            <a:r>
              <a:rPr lang="zh-CN" altLang="en-US" dirty="0"/>
              <a:t>  3）Year 2–3：向第二波州和 Tier 2 城市复制，叠加渠道合作与推荐裂变。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3081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6C24B-A7C5-FE62-40B5-D0134CB67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F41716F-FA54-4AF9-1DD8-80D896E7D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2AD37A8A-8B7B-BDBC-A4B2-86B9EE49390F}"/>
              </a:ext>
            </a:extLst>
          </p:cNvPr>
          <p:cNvGrpSpPr/>
          <p:nvPr/>
        </p:nvGrpSpPr>
        <p:grpSpPr>
          <a:xfrm flipH="1">
            <a:off x="11282316" y="482347"/>
            <a:ext cx="635000" cy="127253"/>
            <a:chOff x="3044090" y="-1193800"/>
            <a:chExt cx="1477110" cy="296010"/>
          </a:xfrm>
          <a:solidFill>
            <a:schemeClr val="accent2"/>
          </a:solidFill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97A92015-2004-02F6-3303-F79064F94C6D}"/>
                </a:ext>
              </a:extLst>
            </p:cNvPr>
            <p:cNvSpPr/>
            <p:nvPr/>
          </p:nvSpPr>
          <p:spPr>
            <a:xfrm>
              <a:off x="3044090" y="-1193800"/>
              <a:ext cx="296010" cy="296010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92B0BEF-0198-573F-1BB5-4C1017FB2465}"/>
                </a:ext>
              </a:extLst>
            </p:cNvPr>
            <p:cNvSpPr/>
            <p:nvPr/>
          </p:nvSpPr>
          <p:spPr>
            <a:xfrm>
              <a:off x="3634640" y="-1193800"/>
              <a:ext cx="296010" cy="296010"/>
            </a:xfrm>
            <a:prstGeom prst="ellipse">
              <a:avLst/>
            </a:prstGeom>
            <a:grp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4D5809D-2842-67F8-EEC9-3194C3E623E7}"/>
                </a:ext>
              </a:extLst>
            </p:cNvPr>
            <p:cNvSpPr/>
            <p:nvPr/>
          </p:nvSpPr>
          <p:spPr>
            <a:xfrm>
              <a:off x="4225190" y="-1193800"/>
              <a:ext cx="296010" cy="296010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Bullet1">
            <a:extLst>
              <a:ext uri="{FF2B5EF4-FFF2-40B4-BE49-F238E27FC236}">
                <a16:creationId xmlns:a16="http://schemas.microsoft.com/office/drawing/2014/main" id="{528C7E4B-AC21-FC6B-F06A-E09F5AE2FEC0}"/>
              </a:ext>
            </a:extLst>
          </p:cNvPr>
          <p:cNvSpPr txBox="1"/>
          <p:nvPr/>
        </p:nvSpPr>
        <p:spPr bwMode="auto">
          <a:xfrm>
            <a:off x="4705105" y="3095280"/>
            <a:ext cx="8418651" cy="5760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 defTabSz="913765">
              <a:buSzPct val="25000"/>
              <a:defRPr/>
            </a:pPr>
            <a:r>
              <a:rPr lang="zh-CN" altLang="en-US" sz="8800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rPr>
              <a:t>对手分析</a:t>
            </a:r>
          </a:p>
        </p:txBody>
      </p:sp>
      <p:sp>
        <p:nvSpPr>
          <p:cNvPr id="11" name="Number1">
            <a:extLst>
              <a:ext uri="{FF2B5EF4-FFF2-40B4-BE49-F238E27FC236}">
                <a16:creationId xmlns:a16="http://schemas.microsoft.com/office/drawing/2014/main" id="{97D70440-694A-D102-4FE8-D9B914AFCE7C}"/>
              </a:ext>
            </a:extLst>
          </p:cNvPr>
          <p:cNvSpPr/>
          <p:nvPr/>
        </p:nvSpPr>
        <p:spPr>
          <a:xfrm>
            <a:off x="8194430" y="1819680"/>
            <a:ext cx="1440001" cy="613425"/>
          </a:xfrm>
          <a:prstGeom prst="round2DiagRect">
            <a:avLst>
              <a:gd name="adj1" fmla="val 0"/>
              <a:gd name="adj2" fmla="val 35305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ffectLst>
            <a:outerShdw blurRad="190500" dist="63500" dir="5400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 anchorCtr="0">
            <a:normAutofit/>
          </a:bodyPr>
          <a:lstStyle/>
          <a:p>
            <a:pPr algn="ctr"/>
            <a:r>
              <a:rPr kumimoji="1" lang="en-US" altLang="zh-CN" sz="2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05</a:t>
            </a:r>
          </a:p>
        </p:txBody>
      </p:sp>
      <p:sp>
        <p:nvSpPr>
          <p:cNvPr id="12" name="Text1">
            <a:extLst>
              <a:ext uri="{FF2B5EF4-FFF2-40B4-BE49-F238E27FC236}">
                <a16:creationId xmlns:a16="http://schemas.microsoft.com/office/drawing/2014/main" id="{028CC507-8421-0104-4245-F14E2DAEDFEB}"/>
              </a:ext>
            </a:extLst>
          </p:cNvPr>
          <p:cNvSpPr txBox="1"/>
          <p:nvPr/>
        </p:nvSpPr>
        <p:spPr>
          <a:xfrm>
            <a:off x="6705419" y="4137850"/>
            <a:ext cx="4704150" cy="9675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algn="ctr" defTabSz="913765">
              <a:lnSpc>
                <a:spcPct val="120000"/>
              </a:lnSpc>
              <a:buSzPct val="25000"/>
              <a:defRPr/>
            </a:pPr>
            <a:r>
              <a:rPr lang="zh-CN" altLang="en-US" sz="1200" dirty="0"/>
              <a:t>语音点餐赛道已经汇集了多家语音 </a:t>
            </a:r>
            <a:r>
              <a:rPr lang="en-US" altLang="zh-CN" sz="1200" dirty="0"/>
              <a:t>Agent </a:t>
            </a:r>
            <a:r>
              <a:rPr lang="zh-CN" altLang="en-US" sz="1200" dirty="0"/>
              <a:t>创业公司和大厂解决方案，但整体仍处于早期阶段，真正实现大规模落地的玩家很少。</a:t>
            </a:r>
          </a:p>
          <a:p>
            <a:pPr algn="ctr" defTabSz="913765">
              <a:lnSpc>
                <a:spcPct val="120000"/>
              </a:lnSpc>
              <a:buSzPct val="25000"/>
              <a:defRPr/>
            </a:pP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ctr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Pct val="25000"/>
              <a:buFontTx/>
              <a:buNone/>
              <a:defRPr/>
            </a:pP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8FF5055-6209-3B11-482B-49C7B5E206D0}"/>
              </a:ext>
            </a:extLst>
          </p:cNvPr>
          <p:cNvSpPr txBox="1"/>
          <p:nvPr/>
        </p:nvSpPr>
        <p:spPr>
          <a:xfrm>
            <a:off x="6903720" y="6284212"/>
            <a:ext cx="50135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dirty="0"/>
              <a:t>语音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餐饮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应用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4620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58322-0A31-BA5B-59CA-1724BD5AA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682759BF-0F58-74E6-87FF-079837078AD5}"/>
              </a:ext>
            </a:extLst>
          </p:cNvPr>
          <p:cNvGrpSpPr/>
          <p:nvPr/>
        </p:nvGrpSpPr>
        <p:grpSpPr>
          <a:xfrm>
            <a:off x="456861" y="373620"/>
            <a:ext cx="11278278" cy="625104"/>
            <a:chOff x="456861" y="373620"/>
            <a:chExt cx="11278278" cy="625104"/>
          </a:xfrm>
        </p:grpSpPr>
        <p:sp>
          <p:nvSpPr>
            <p:cNvPr id="11" name="Bullet1">
              <a:extLst>
                <a:ext uri="{FF2B5EF4-FFF2-40B4-BE49-F238E27FC236}">
                  <a16:creationId xmlns:a16="http://schemas.microsoft.com/office/drawing/2014/main" id="{6A19C515-025E-E938-1FCC-E909054BAA40}"/>
                </a:ext>
              </a:extLst>
            </p:cNvPr>
            <p:cNvSpPr txBox="1"/>
            <p:nvPr/>
          </p:nvSpPr>
          <p:spPr bwMode="auto">
            <a:xfrm>
              <a:off x="1435299" y="422724"/>
              <a:ext cx="10299840" cy="57600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defTabSz="913765">
                <a:buSzPct val="25000"/>
                <a:defRPr/>
              </a:pPr>
              <a:r>
                <a:rPr lang="zh-CN" altLang="en-US" sz="2800" b="1" dirty="0"/>
                <a:t>市场高度碎片化，仅有少数玩家达到规模化</a:t>
              </a:r>
              <a:endParaRPr lang="zh-CN" altLang="en-US" sz="2800" b="1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endParaRPr>
            </a:p>
          </p:txBody>
        </p:sp>
        <p:sp>
          <p:nvSpPr>
            <p:cNvPr id="12" name="Number1">
              <a:extLst>
                <a:ext uri="{FF2B5EF4-FFF2-40B4-BE49-F238E27FC236}">
                  <a16:creationId xmlns:a16="http://schemas.microsoft.com/office/drawing/2014/main" id="{ACE207BA-2D99-F766-F8C0-5E83A5775CC4}"/>
                </a:ext>
              </a:extLst>
            </p:cNvPr>
            <p:cNvSpPr/>
            <p:nvPr/>
          </p:nvSpPr>
          <p:spPr>
            <a:xfrm>
              <a:off x="456861" y="373620"/>
              <a:ext cx="903850" cy="613425"/>
            </a:xfrm>
            <a:prstGeom prst="round2DiagRect">
              <a:avLst>
                <a:gd name="adj1" fmla="val 0"/>
                <a:gd name="adj2" fmla="val 35305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90500" dist="635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kumimoji="1"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05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0CF0D6F-DF13-D561-4ABF-31E3ED0030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064" y="987045"/>
            <a:ext cx="3138075" cy="220332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DC71901-FA7B-642D-F7C5-B873125AB139}"/>
              </a:ext>
            </a:extLst>
          </p:cNvPr>
          <p:cNvSpPr txBox="1"/>
          <p:nvPr/>
        </p:nvSpPr>
        <p:spPr>
          <a:xfrm>
            <a:off x="1124147" y="1245878"/>
            <a:ext cx="877399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· </a:t>
            </a:r>
            <a:r>
              <a:rPr lang="zh-CN" altLang="en-US" dirty="0"/>
              <a:t>底层是大厂通用平台（</a:t>
            </a:r>
            <a:r>
              <a:rPr lang="en-US" altLang="zh-CN" dirty="0"/>
              <a:t>Google</a:t>
            </a:r>
            <a:r>
              <a:rPr lang="zh-CN" altLang="en-US" dirty="0"/>
              <a:t>、</a:t>
            </a:r>
            <a:r>
              <a:rPr lang="en-US" altLang="zh-CN" dirty="0"/>
              <a:t>Microsoft</a:t>
            </a:r>
            <a:r>
              <a:rPr lang="zh-CN" altLang="en-US" dirty="0"/>
              <a:t>、</a:t>
            </a:r>
            <a:r>
              <a:rPr lang="en-US" altLang="zh-CN" dirty="0"/>
              <a:t>AWS</a:t>
            </a:r>
            <a:r>
              <a:rPr lang="zh-CN" altLang="en-US" dirty="0"/>
              <a:t>、</a:t>
            </a:r>
            <a:r>
              <a:rPr lang="en-US" altLang="zh-CN" dirty="0"/>
              <a:t>OpenAI </a:t>
            </a:r>
            <a:r>
              <a:rPr lang="zh-CN" altLang="en-US" dirty="0"/>
              <a:t>等），</a:t>
            </a:r>
          </a:p>
          <a:p>
            <a:r>
              <a:rPr lang="zh-CN" altLang="en-US" dirty="0"/>
              <a:t>  提供语音识别和 </a:t>
            </a:r>
            <a:r>
              <a:rPr lang="en-US" altLang="zh-CN" dirty="0"/>
              <a:t>LLM </a:t>
            </a:r>
            <a:r>
              <a:rPr lang="zh-CN" altLang="en-US" dirty="0"/>
              <a:t>能力，大多不自己下场做小餐馆业务。</a:t>
            </a:r>
          </a:p>
          <a:p>
            <a:endParaRPr lang="zh-CN" altLang="en-US" dirty="0"/>
          </a:p>
          <a:p>
            <a:r>
              <a:rPr lang="en-US" altLang="zh-CN" dirty="0"/>
              <a:t>· </a:t>
            </a:r>
            <a:r>
              <a:rPr lang="zh-CN" altLang="en-US" dirty="0"/>
              <a:t>垂直语音点餐玩家集中在少数几家：</a:t>
            </a:r>
            <a:r>
              <a:rPr lang="en-US" altLang="zh-CN" dirty="0" err="1"/>
              <a:t>SoundHound</a:t>
            </a:r>
            <a:r>
              <a:rPr lang="zh-CN" altLang="en-US" dirty="0"/>
              <a:t>、</a:t>
            </a:r>
            <a:r>
              <a:rPr lang="en-US" altLang="zh-CN" dirty="0" err="1"/>
              <a:t>ConverseNow</a:t>
            </a:r>
            <a:r>
              <a:rPr lang="zh-CN" altLang="en-US" dirty="0"/>
              <a:t>、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Presto</a:t>
            </a:r>
            <a:r>
              <a:rPr lang="zh-CN" altLang="en-US" dirty="0"/>
              <a:t>、</a:t>
            </a:r>
            <a:r>
              <a:rPr lang="en-US" altLang="zh-CN" dirty="0"/>
              <a:t>Slang.ai</a:t>
            </a:r>
            <a:r>
              <a:rPr lang="zh-CN" altLang="en-US" dirty="0"/>
              <a:t>、</a:t>
            </a:r>
            <a:r>
              <a:rPr lang="en-US" altLang="zh-CN" dirty="0" err="1"/>
              <a:t>PolyAI</a:t>
            </a:r>
            <a:r>
              <a:rPr lang="zh-CN" altLang="en-US" dirty="0"/>
              <a:t>、</a:t>
            </a:r>
            <a:r>
              <a:rPr lang="en-US" altLang="zh-CN" dirty="0"/>
              <a:t>Kea </a:t>
            </a:r>
            <a:r>
              <a:rPr lang="zh-CN" altLang="en-US" dirty="0"/>
              <a:t>等，主要服务快餐连锁、酒店和订位场景。</a:t>
            </a:r>
          </a:p>
          <a:p>
            <a:endParaRPr lang="zh-CN" altLang="en-US" dirty="0"/>
          </a:p>
          <a:p>
            <a:r>
              <a:rPr lang="en-US" altLang="zh-CN" dirty="0"/>
              <a:t>· </a:t>
            </a:r>
            <a:r>
              <a:rPr lang="zh-CN" altLang="en-US" dirty="0"/>
              <a:t>真正做到“规模化</a:t>
            </a:r>
            <a:r>
              <a:rPr lang="en-US" altLang="zh-CN" dirty="0"/>
              <a:t>+</a:t>
            </a:r>
            <a:r>
              <a:rPr lang="zh-CN" altLang="en-US" dirty="0"/>
              <a:t>资本化”的目前只有 </a:t>
            </a:r>
            <a:r>
              <a:rPr lang="en-US" altLang="zh-CN" dirty="0" err="1"/>
              <a:t>SoundHound</a:t>
            </a:r>
            <a:r>
              <a:rPr lang="zh-CN" altLang="en-US" dirty="0"/>
              <a:t>，</a:t>
            </a:r>
          </a:p>
          <a:p>
            <a:r>
              <a:rPr lang="zh-CN" altLang="en-US" dirty="0"/>
              <a:t>  已在 </a:t>
            </a:r>
            <a:r>
              <a:rPr lang="en-US" altLang="zh-CN" dirty="0"/>
              <a:t>1 </a:t>
            </a:r>
            <a:r>
              <a:rPr lang="zh-CN" altLang="en-US" dirty="0"/>
              <a:t>万</a:t>
            </a:r>
            <a:r>
              <a:rPr lang="en-US" altLang="zh-CN" dirty="0"/>
              <a:t>+ </a:t>
            </a:r>
            <a:r>
              <a:rPr lang="zh-CN" altLang="en-US" dirty="0"/>
              <a:t>家餐厅落地，</a:t>
            </a:r>
            <a:r>
              <a:rPr lang="en-US" altLang="zh-CN" dirty="0"/>
              <a:t>2024 </a:t>
            </a:r>
            <a:r>
              <a:rPr lang="zh-CN" altLang="en-US" dirty="0"/>
              <a:t>年营收约 </a:t>
            </a:r>
            <a:r>
              <a:rPr lang="en-US" altLang="zh-CN" dirty="0"/>
              <a:t>8,469 </a:t>
            </a:r>
            <a:r>
              <a:rPr lang="zh-CN" altLang="en-US" dirty="0"/>
              <a:t>万美元，</a:t>
            </a:r>
            <a:r>
              <a:rPr lang="en-US" altLang="zh-CN" dirty="0"/>
              <a:t>2025 </a:t>
            </a:r>
            <a:r>
              <a:rPr lang="zh-CN" altLang="en-US" dirty="0"/>
              <a:t>指引 </a:t>
            </a:r>
            <a:r>
              <a:rPr lang="en-US" altLang="zh-CN" dirty="0"/>
              <a:t>1.65–1.8 </a:t>
            </a:r>
            <a:r>
              <a:rPr lang="zh-CN" altLang="en-US" dirty="0"/>
              <a:t>亿美元。</a:t>
            </a:r>
          </a:p>
          <a:p>
            <a:endParaRPr lang="zh-CN" altLang="en-US" dirty="0"/>
          </a:p>
          <a:p>
            <a:r>
              <a:rPr lang="en-US" altLang="zh-CN" dirty="0"/>
              <a:t>· </a:t>
            </a:r>
            <a:r>
              <a:rPr lang="zh-CN" altLang="en-US" dirty="0"/>
              <a:t>其他语音点餐公司大多仍处在 </a:t>
            </a:r>
            <a:r>
              <a:rPr lang="en-US" altLang="zh-CN" dirty="0"/>
              <a:t>A/B </a:t>
            </a:r>
            <a:r>
              <a:rPr lang="zh-CN" altLang="en-US" dirty="0"/>
              <a:t>轮阶段，</a:t>
            </a:r>
            <a:r>
              <a:rPr lang="en-US" altLang="zh-CN" dirty="0"/>
              <a:t>ARR </a:t>
            </a:r>
            <a:r>
              <a:rPr lang="zh-CN" altLang="en-US" dirty="0"/>
              <a:t>以百万到几千万美元为主，</a:t>
            </a:r>
          </a:p>
          <a:p>
            <a:r>
              <a:rPr lang="zh-CN" altLang="en-US" dirty="0"/>
              <a:t>  门店规模在几百到一两千家之间，尚未形成绝对龙头。</a:t>
            </a:r>
          </a:p>
          <a:p>
            <a:endParaRPr lang="zh-CN" altLang="en-US" dirty="0"/>
          </a:p>
          <a:p>
            <a:r>
              <a:rPr lang="en-US" altLang="zh-CN" dirty="0"/>
              <a:t>· CB Insights </a:t>
            </a:r>
            <a:r>
              <a:rPr lang="zh-CN" altLang="en-US" dirty="0"/>
              <a:t>的研究显示，约 </a:t>
            </a:r>
            <a:r>
              <a:rPr lang="en-US" altLang="zh-CN" dirty="0"/>
              <a:t>85% </a:t>
            </a:r>
            <a:r>
              <a:rPr lang="zh-CN" altLang="en-US" dirty="0"/>
              <a:t>的语音 </a:t>
            </a:r>
            <a:r>
              <a:rPr lang="en-US" altLang="zh-CN" dirty="0"/>
              <a:t>AI </a:t>
            </a:r>
            <a:r>
              <a:rPr lang="zh-CN" altLang="en-US" dirty="0"/>
              <a:t>项目仍处在商业成熟度 </a:t>
            </a:r>
            <a:r>
              <a:rPr lang="en-US" altLang="zh-CN" dirty="0"/>
              <a:t>1–3 </a:t>
            </a:r>
            <a:r>
              <a:rPr lang="zh-CN" altLang="en-US" dirty="0"/>
              <a:t>级</a:t>
            </a:r>
          </a:p>
          <a:p>
            <a:r>
              <a:rPr lang="zh-CN" altLang="en-US" dirty="0"/>
              <a:t>  （试点到早期扩张），大规模部署的项目非常有限。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32ADC1-526B-2D79-DD43-F86A180C1DBE}"/>
              </a:ext>
            </a:extLst>
          </p:cNvPr>
          <p:cNvSpPr txBox="1"/>
          <p:nvPr/>
        </p:nvSpPr>
        <p:spPr>
          <a:xfrm>
            <a:off x="2660715" y="5612122"/>
            <a:ext cx="74259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语音点餐赛道远未跑出“一个玩家吃掉 30%+ 市场”的格局，仍是高度碎片化的早期市场。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40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105C4-E71B-747A-66CD-4B10D3AFB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07714BC-9B13-D1DC-9CC8-009CF3D08FDB}"/>
              </a:ext>
            </a:extLst>
          </p:cNvPr>
          <p:cNvGrpSpPr/>
          <p:nvPr/>
        </p:nvGrpSpPr>
        <p:grpSpPr>
          <a:xfrm>
            <a:off x="456861" y="373620"/>
            <a:ext cx="11278278" cy="625104"/>
            <a:chOff x="456861" y="373620"/>
            <a:chExt cx="11278278" cy="625104"/>
          </a:xfrm>
        </p:grpSpPr>
        <p:sp>
          <p:nvSpPr>
            <p:cNvPr id="11" name="Bullet1">
              <a:extLst>
                <a:ext uri="{FF2B5EF4-FFF2-40B4-BE49-F238E27FC236}">
                  <a16:creationId xmlns:a16="http://schemas.microsoft.com/office/drawing/2014/main" id="{9D8F1ABA-DDC9-1EBA-09D5-A059B395DD60}"/>
                </a:ext>
              </a:extLst>
            </p:cNvPr>
            <p:cNvSpPr txBox="1"/>
            <p:nvPr/>
          </p:nvSpPr>
          <p:spPr bwMode="auto">
            <a:xfrm>
              <a:off x="1435299" y="422724"/>
              <a:ext cx="10299840" cy="57600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defTabSz="913765">
                <a:buSzPct val="25000"/>
                <a:defRPr/>
              </a:pPr>
              <a:r>
                <a:rPr lang="zh-CN" altLang="en-US" sz="2800" b="1" dirty="0"/>
                <a:t>中小中餐外送 </a:t>
              </a:r>
              <a:r>
                <a:rPr lang="en-US" altLang="zh-CN" sz="2800" b="1" dirty="0"/>
                <a:t>+ </a:t>
              </a:r>
              <a:r>
                <a:rPr lang="zh-CN" altLang="en-US" sz="2800" b="1" dirty="0"/>
                <a:t>双语复杂菜单：被忽视但极高频的场景</a:t>
              </a:r>
              <a:endParaRPr lang="zh-CN" altLang="en-US" sz="2800" b="1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endParaRPr>
            </a:p>
          </p:txBody>
        </p:sp>
        <p:sp>
          <p:nvSpPr>
            <p:cNvPr id="12" name="Number1">
              <a:extLst>
                <a:ext uri="{FF2B5EF4-FFF2-40B4-BE49-F238E27FC236}">
                  <a16:creationId xmlns:a16="http://schemas.microsoft.com/office/drawing/2014/main" id="{3DF585B8-0574-0921-ED01-6EA19A00FF0F}"/>
                </a:ext>
              </a:extLst>
            </p:cNvPr>
            <p:cNvSpPr/>
            <p:nvPr/>
          </p:nvSpPr>
          <p:spPr>
            <a:xfrm>
              <a:off x="456861" y="373620"/>
              <a:ext cx="903850" cy="613425"/>
            </a:xfrm>
            <a:prstGeom prst="round2DiagRect">
              <a:avLst>
                <a:gd name="adj1" fmla="val 0"/>
                <a:gd name="adj2" fmla="val 35305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90500" dist="635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kumimoji="1"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05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D9478EF-4761-1C51-194F-D2CB0C5CAA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093" y="3514759"/>
            <a:ext cx="2423371" cy="166055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4B34083-4DBB-1E8F-9F9D-2723E1526767}"/>
              </a:ext>
            </a:extLst>
          </p:cNvPr>
          <p:cNvSpPr txBox="1"/>
          <p:nvPr/>
        </p:nvSpPr>
        <p:spPr>
          <a:xfrm>
            <a:off x="1360711" y="1014939"/>
            <a:ext cx="814240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· 北美中餐外送门店普遍存在口音重、环境噪声大、菜单复杂度高等特点，</a:t>
            </a:r>
          </a:p>
          <a:p>
            <a:r>
              <a:rPr lang="zh-CN" altLang="en-US" dirty="0"/>
              <a:t>  对语音识别和理解提出比快餐连锁更高的要求。</a:t>
            </a:r>
          </a:p>
          <a:p>
            <a:endParaRPr lang="zh-CN" altLang="en-US" dirty="0"/>
          </a:p>
          <a:p>
            <a:r>
              <a:rPr lang="zh-CN" altLang="en-US" dirty="0"/>
              <a:t>· 顾客点餐时经常混用中英：例如“左宗鸡 / General Tso”、“干炒牛河 / beef chow fun”，</a:t>
            </a:r>
          </a:p>
          <a:p>
            <a:r>
              <a:rPr lang="zh-CN" altLang="en-US" dirty="0"/>
              <a:t>  还会加各种替换和备注，这类语料在通用 ASR + LLM 体系中识别效果有限。</a:t>
            </a:r>
          </a:p>
          <a:p>
            <a:endParaRPr lang="zh-CN" altLang="en-US" dirty="0"/>
          </a:p>
          <a:p>
            <a:r>
              <a:rPr lang="zh-CN" altLang="en-US" dirty="0"/>
              <a:t>· 菜单结构远比汉堡快餐复杂：家庭餐、套餐、半只鸡、加饭/加菜、自定义组合等，</a:t>
            </a:r>
          </a:p>
          <a:p>
            <a:r>
              <a:rPr lang="zh-CN" altLang="en-US" dirty="0"/>
              <a:t>  需要深度理解门店自己的 POS 菜单逻辑和外送地址规则。</a:t>
            </a:r>
          </a:p>
          <a:p>
            <a:endParaRPr lang="zh-CN" altLang="en-US" dirty="0"/>
          </a:p>
          <a:p>
            <a:r>
              <a:rPr lang="zh-CN" altLang="en-US" dirty="0"/>
              <a:t>· 现有头部玩家（SoundHound、ConverseNow、Presto、Slang 等）</a:t>
            </a:r>
          </a:p>
          <a:p>
            <a:r>
              <a:rPr lang="zh-CN" altLang="en-US" dirty="0"/>
              <a:t>  的主要精力集中在英文快餐连锁，对中小中餐外送基本没有专门产品，</a:t>
            </a:r>
          </a:p>
          <a:p>
            <a:r>
              <a:rPr lang="zh-CN" altLang="en-US" dirty="0"/>
              <a:t>  也缺乏中文语料和华人渠道。</a:t>
            </a:r>
          </a:p>
          <a:p>
            <a:endParaRPr lang="zh-CN" altLang="en-US" dirty="0"/>
          </a:p>
          <a:p>
            <a:r>
              <a:rPr lang="zh-CN" altLang="en-US" dirty="0"/>
              <a:t>· 这意味着：中小中餐外送市场既是电话订单最密集、人工成本最高的场景之一，</a:t>
            </a:r>
          </a:p>
          <a:p>
            <a:r>
              <a:rPr lang="zh-CN" altLang="en-US" dirty="0"/>
              <a:t>  也是目前被竞品普遍忽视、却极适合我们切入和做深的细分赛道。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809E1A-3F2A-F0DF-3E8D-3127D0A40DAA}"/>
              </a:ext>
            </a:extLst>
          </p:cNvPr>
          <p:cNvSpPr txBox="1"/>
          <p:nvPr/>
        </p:nvSpPr>
        <p:spPr>
          <a:xfrm>
            <a:off x="2276314" y="5855827"/>
            <a:ext cx="7812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我们选择“中小中餐外送 + 中英双语菜单”这一高频刚需、但几乎无人认真服务的空白区域作为首个主战场。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569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05699-21B9-E3CD-DE44-E2C4E9884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3498B8B-6B8B-32A4-31A9-DB0F9B672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BD726D91-69E2-AFD2-D0E5-AB7871C96F43}"/>
              </a:ext>
            </a:extLst>
          </p:cNvPr>
          <p:cNvGrpSpPr/>
          <p:nvPr/>
        </p:nvGrpSpPr>
        <p:grpSpPr>
          <a:xfrm flipH="1">
            <a:off x="11282316" y="482347"/>
            <a:ext cx="635000" cy="127253"/>
            <a:chOff x="3044090" y="-1193800"/>
            <a:chExt cx="1477110" cy="296010"/>
          </a:xfrm>
          <a:solidFill>
            <a:schemeClr val="accent2"/>
          </a:solidFill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F078A80-50C5-3A89-C8A0-815E6155D3EB}"/>
                </a:ext>
              </a:extLst>
            </p:cNvPr>
            <p:cNvSpPr/>
            <p:nvPr/>
          </p:nvSpPr>
          <p:spPr>
            <a:xfrm>
              <a:off x="3044090" y="-1193800"/>
              <a:ext cx="296010" cy="296010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22E4F9C8-704B-1180-D459-C2C74C3FE1C1}"/>
                </a:ext>
              </a:extLst>
            </p:cNvPr>
            <p:cNvSpPr/>
            <p:nvPr/>
          </p:nvSpPr>
          <p:spPr>
            <a:xfrm>
              <a:off x="3634640" y="-1193800"/>
              <a:ext cx="296010" cy="296010"/>
            </a:xfrm>
            <a:prstGeom prst="ellipse">
              <a:avLst/>
            </a:prstGeom>
            <a:grp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835DB52-8038-7E17-5033-97B3B5DFAEBC}"/>
                </a:ext>
              </a:extLst>
            </p:cNvPr>
            <p:cNvSpPr/>
            <p:nvPr/>
          </p:nvSpPr>
          <p:spPr>
            <a:xfrm>
              <a:off x="4225190" y="-1193800"/>
              <a:ext cx="296010" cy="296010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Bullet1">
            <a:extLst>
              <a:ext uri="{FF2B5EF4-FFF2-40B4-BE49-F238E27FC236}">
                <a16:creationId xmlns:a16="http://schemas.microsoft.com/office/drawing/2014/main" id="{990974F3-9FD8-C653-4CBD-753C3BBCB711}"/>
              </a:ext>
            </a:extLst>
          </p:cNvPr>
          <p:cNvSpPr txBox="1"/>
          <p:nvPr/>
        </p:nvSpPr>
        <p:spPr bwMode="auto">
          <a:xfrm>
            <a:off x="4120643" y="3141000"/>
            <a:ext cx="8418651" cy="5760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 defTabSz="913765">
              <a:buSzPct val="25000"/>
              <a:defRPr/>
            </a:pPr>
            <a:r>
              <a:rPr lang="zh-CN" altLang="en-US" sz="8800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rPr>
              <a:t>业务拓展规划</a:t>
            </a:r>
          </a:p>
        </p:txBody>
      </p:sp>
      <p:sp>
        <p:nvSpPr>
          <p:cNvPr id="11" name="Number1">
            <a:extLst>
              <a:ext uri="{FF2B5EF4-FFF2-40B4-BE49-F238E27FC236}">
                <a16:creationId xmlns:a16="http://schemas.microsoft.com/office/drawing/2014/main" id="{DBF3A411-D1CC-D0E7-8253-1362669594AB}"/>
              </a:ext>
            </a:extLst>
          </p:cNvPr>
          <p:cNvSpPr/>
          <p:nvPr/>
        </p:nvSpPr>
        <p:spPr>
          <a:xfrm>
            <a:off x="8194430" y="1819680"/>
            <a:ext cx="1440001" cy="613425"/>
          </a:xfrm>
          <a:prstGeom prst="round2DiagRect">
            <a:avLst>
              <a:gd name="adj1" fmla="val 0"/>
              <a:gd name="adj2" fmla="val 35305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ffectLst>
            <a:outerShdw blurRad="190500" dist="63500" dir="5400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 anchorCtr="0">
            <a:normAutofit/>
          </a:bodyPr>
          <a:lstStyle/>
          <a:p>
            <a:pPr algn="ctr"/>
            <a:r>
              <a:rPr kumimoji="1" lang="en-US" altLang="zh-CN" sz="2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06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AB6B2B7-F906-446E-1FF7-5E3CD5182534}"/>
              </a:ext>
            </a:extLst>
          </p:cNvPr>
          <p:cNvSpPr txBox="1"/>
          <p:nvPr/>
        </p:nvSpPr>
        <p:spPr>
          <a:xfrm>
            <a:off x="6903720" y="6284212"/>
            <a:ext cx="50135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dirty="0"/>
              <a:t>语音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餐饮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应用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322525-59FA-E486-16B5-9ED733858210}"/>
              </a:ext>
            </a:extLst>
          </p:cNvPr>
          <p:cNvSpPr txBox="1"/>
          <p:nvPr/>
        </p:nvSpPr>
        <p:spPr>
          <a:xfrm>
            <a:off x="5584865" y="4179225"/>
            <a:ext cx="62688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我们从美国中餐外送 </a:t>
            </a:r>
            <a:r>
              <a:rPr lang="en-US" altLang="zh-CN" sz="1200" dirty="0"/>
              <a:t>/ </a:t>
            </a:r>
            <a:r>
              <a:rPr lang="zh-CN" altLang="en-US" sz="1200" dirty="0"/>
              <a:t>电话点餐场景切入，先在 </a:t>
            </a:r>
            <a:r>
              <a:rPr lang="en-US" altLang="zh-CN" sz="1200" dirty="0"/>
              <a:t>6 </a:t>
            </a:r>
            <a:r>
              <a:rPr lang="zh-CN" altLang="en-US" sz="1200" dirty="0"/>
              <a:t>大州和十几个核心都会区做深做透，在验证 </a:t>
            </a:r>
            <a:r>
              <a:rPr lang="en-US" altLang="zh-CN" sz="1200" dirty="0"/>
              <a:t>ROI </a:t>
            </a:r>
            <a:r>
              <a:rPr lang="zh-CN" altLang="en-US" sz="1200" dirty="0"/>
              <a:t>的基础上扩展到更多亚洲餐厅和连锁客户，并逐步叠加支付、客服和多渠道能力，最终成长为本地商家的通用 </a:t>
            </a:r>
            <a:r>
              <a:rPr lang="en-US" altLang="zh-CN" sz="1200" dirty="0"/>
              <a:t>AI </a:t>
            </a:r>
            <a:r>
              <a:rPr lang="zh-CN" altLang="en-US" sz="1200" dirty="0"/>
              <a:t>服务基础设施。</a:t>
            </a:r>
          </a:p>
        </p:txBody>
      </p:sp>
    </p:spTree>
    <p:extLst>
      <p:ext uri="{BB962C8B-B14F-4D97-AF65-F5344CB8AC3E}">
        <p14:creationId xmlns:p14="http://schemas.microsoft.com/office/powerpoint/2010/main" val="1748655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8736D-1663-B1D5-9BCE-205D56687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63F7D4DF-FC63-0E5D-B0DF-D487A2B59B8C}"/>
              </a:ext>
            </a:extLst>
          </p:cNvPr>
          <p:cNvGrpSpPr/>
          <p:nvPr/>
        </p:nvGrpSpPr>
        <p:grpSpPr>
          <a:xfrm>
            <a:off x="456861" y="373620"/>
            <a:ext cx="11278278" cy="625104"/>
            <a:chOff x="456861" y="373620"/>
            <a:chExt cx="11278278" cy="625104"/>
          </a:xfrm>
        </p:grpSpPr>
        <p:sp>
          <p:nvSpPr>
            <p:cNvPr id="11" name="Bullet1">
              <a:extLst>
                <a:ext uri="{FF2B5EF4-FFF2-40B4-BE49-F238E27FC236}">
                  <a16:creationId xmlns:a16="http://schemas.microsoft.com/office/drawing/2014/main" id="{FE742363-1BF7-5177-3635-D12059F91349}"/>
                </a:ext>
              </a:extLst>
            </p:cNvPr>
            <p:cNvSpPr txBox="1"/>
            <p:nvPr/>
          </p:nvSpPr>
          <p:spPr bwMode="auto">
            <a:xfrm>
              <a:off x="1435299" y="422724"/>
              <a:ext cx="10299840" cy="57600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defTabSz="913765">
                <a:buSzPct val="25000"/>
                <a:defRPr/>
              </a:pPr>
              <a:r>
                <a:rPr lang="zh-CN" altLang="en-US" sz="2800" b="1" dirty="0"/>
                <a:t>业务扩展规划（一）：</a:t>
              </a:r>
              <a:r>
                <a:rPr lang="en-US" altLang="zh-CN" sz="2800" b="1" dirty="0"/>
                <a:t>GTM </a:t>
              </a:r>
              <a:r>
                <a:rPr lang="zh-CN" altLang="en-US" sz="2800" b="1" dirty="0"/>
                <a:t>策略与阶段扩张</a:t>
              </a:r>
              <a:br>
                <a:rPr lang="zh-CN" altLang="en-US" sz="2800" dirty="0"/>
              </a:br>
              <a:r>
                <a:rPr lang="en-US" altLang="zh-CN" sz="2800" b="1" dirty="0"/>
                <a:t>Go-to-market strategy &amp; expansion stages</a:t>
              </a:r>
              <a:endParaRPr lang="zh-CN" altLang="en-US" sz="2800" b="1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endParaRPr>
            </a:p>
          </p:txBody>
        </p:sp>
        <p:sp>
          <p:nvSpPr>
            <p:cNvPr id="12" name="Number1">
              <a:extLst>
                <a:ext uri="{FF2B5EF4-FFF2-40B4-BE49-F238E27FC236}">
                  <a16:creationId xmlns:a16="http://schemas.microsoft.com/office/drawing/2014/main" id="{68E9005C-F6D9-E30C-E593-4D74DE3625DB}"/>
                </a:ext>
              </a:extLst>
            </p:cNvPr>
            <p:cNvSpPr/>
            <p:nvPr/>
          </p:nvSpPr>
          <p:spPr>
            <a:xfrm>
              <a:off x="456861" y="373620"/>
              <a:ext cx="903850" cy="613425"/>
            </a:xfrm>
            <a:prstGeom prst="round2DiagRect">
              <a:avLst>
                <a:gd name="adj1" fmla="val 0"/>
                <a:gd name="adj2" fmla="val 35305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90500" dist="635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kumimoji="1"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06</a:t>
              </a: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EEE64FBE-8967-6287-BBEE-509E5DB4ADF4}"/>
              </a:ext>
            </a:extLst>
          </p:cNvPr>
          <p:cNvSpPr txBox="1"/>
          <p:nvPr/>
        </p:nvSpPr>
        <p:spPr>
          <a:xfrm>
            <a:off x="566058" y="1408170"/>
            <a:ext cx="398417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1️⃣ </a:t>
            </a:r>
            <a:r>
              <a:rPr lang="zh-CN" altLang="en-US" b="1" dirty="0"/>
              <a:t>初期切入市场（</a:t>
            </a:r>
            <a:r>
              <a:rPr lang="en-US" altLang="zh-CN" b="1" dirty="0"/>
              <a:t>0 → 1</a:t>
            </a:r>
            <a:r>
              <a:rPr lang="zh-CN" altLang="en-US" b="1" dirty="0"/>
              <a:t>）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目标客户：全美 </a:t>
            </a:r>
            <a:r>
              <a:rPr lang="en-US" altLang="zh-CN" b="1" dirty="0"/>
              <a:t>25,000–30,000 </a:t>
            </a:r>
            <a:r>
              <a:rPr lang="zh-CN" altLang="en-US" b="1" dirty="0"/>
              <a:t>家中餐外送店</a:t>
            </a:r>
            <a:r>
              <a:rPr lang="zh-CN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典型痛点：电话订单量大、人工成本高、员工流动快。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核心获客策略：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华人渠道：</a:t>
            </a:r>
            <a:r>
              <a:rPr lang="en-US" altLang="zh-CN" dirty="0"/>
              <a:t>168 </a:t>
            </a:r>
            <a:r>
              <a:rPr lang="zh-CN" altLang="en-US" dirty="0"/>
              <a:t>招聘</a:t>
            </a:r>
            <a:r>
              <a:rPr lang="en-US" altLang="zh-CN" dirty="0"/>
              <a:t>/</a:t>
            </a:r>
            <a:r>
              <a:rPr lang="zh-CN" altLang="en-US" dirty="0"/>
              <a:t>论坛、小红书、微信群等私域渠道。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渠道合作：对接华人主流 </a:t>
            </a:r>
            <a:r>
              <a:rPr lang="en-US" altLang="zh-CN" dirty="0"/>
              <a:t>POS</a:t>
            </a:r>
            <a:r>
              <a:rPr lang="zh-CN" altLang="en-US" dirty="0"/>
              <a:t>（</a:t>
            </a:r>
            <a:r>
              <a:rPr lang="en-US" altLang="zh-CN" dirty="0"/>
              <a:t>Tiger / </a:t>
            </a:r>
            <a:r>
              <a:rPr lang="en-US" altLang="zh-CN" dirty="0" err="1"/>
              <a:t>RestPOS</a:t>
            </a:r>
            <a:r>
              <a:rPr lang="zh-CN" altLang="en-US" dirty="0"/>
              <a:t>）。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区域聚焦：优先渗透 </a:t>
            </a:r>
            <a:r>
              <a:rPr lang="en-US" altLang="zh-CN" b="1" dirty="0"/>
              <a:t>CA</a:t>
            </a:r>
            <a:r>
              <a:rPr lang="zh-CN" altLang="en-US" b="1" dirty="0"/>
              <a:t>、</a:t>
            </a:r>
            <a:r>
              <a:rPr lang="en-US" altLang="zh-CN" b="1" dirty="0"/>
              <a:t>NY</a:t>
            </a:r>
            <a:r>
              <a:rPr lang="zh-CN" altLang="en-US" b="1" dirty="0"/>
              <a:t>、</a:t>
            </a:r>
            <a:r>
              <a:rPr lang="en-US" altLang="zh-CN" b="1" dirty="0"/>
              <a:t>TX</a:t>
            </a:r>
            <a:r>
              <a:rPr lang="zh-CN" altLang="en-US" b="1" dirty="0"/>
              <a:t>、</a:t>
            </a:r>
            <a:r>
              <a:rPr lang="en-US" altLang="zh-CN" b="1" dirty="0"/>
              <a:t>FL</a:t>
            </a:r>
            <a:r>
              <a:rPr lang="zh-CN" altLang="en-US" b="1" dirty="0"/>
              <a:t>、</a:t>
            </a:r>
            <a:r>
              <a:rPr lang="en-US" altLang="zh-CN" b="1" dirty="0"/>
              <a:t>NJ</a:t>
            </a:r>
            <a:r>
              <a:rPr lang="zh-CN" altLang="en-US" dirty="0"/>
              <a:t> 等中餐高度集中的州。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低门槛试用：提供 </a:t>
            </a:r>
            <a:r>
              <a:rPr lang="en-US" altLang="zh-CN" b="1" dirty="0"/>
              <a:t>7–14 </a:t>
            </a:r>
            <a:r>
              <a:rPr lang="zh-CN" altLang="en-US" b="1" dirty="0"/>
              <a:t>天免费试用 </a:t>
            </a:r>
            <a:r>
              <a:rPr lang="en-US" altLang="zh-CN" b="1" dirty="0"/>
              <a:t>+ “</a:t>
            </a:r>
            <a:r>
              <a:rPr lang="zh-CN" altLang="en-US" b="1" dirty="0"/>
              <a:t>只付成功订单”</a:t>
            </a:r>
            <a:r>
              <a:rPr lang="zh-CN" altLang="en-US" dirty="0"/>
              <a:t> 的收费模式。</a:t>
            </a:r>
          </a:p>
          <a:p>
            <a:pPr>
              <a:buNone/>
            </a:pPr>
            <a:r>
              <a:rPr lang="zh-CN" altLang="en-US" dirty="0"/>
              <a:t>这是市场最集中、用户最痛、最容易形成口碑和样板店的切入点。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23634A-561B-0503-77E9-BE090F077F00}"/>
              </a:ext>
            </a:extLst>
          </p:cNvPr>
          <p:cNvSpPr txBox="1"/>
          <p:nvPr/>
        </p:nvSpPr>
        <p:spPr>
          <a:xfrm>
            <a:off x="4822371" y="1408170"/>
            <a:ext cx="3352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2️⃣ </a:t>
            </a:r>
            <a:r>
              <a:rPr lang="zh-CN" altLang="en-US" b="1" dirty="0"/>
              <a:t>扩张阶段（</a:t>
            </a:r>
            <a:r>
              <a:rPr lang="en-US" altLang="zh-CN" b="1" dirty="0"/>
              <a:t>1000 → 5000 </a:t>
            </a:r>
            <a:r>
              <a:rPr lang="zh-CN" altLang="en-US" b="1" dirty="0"/>
              <a:t>店）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覆盖更多亚洲菜系：寿司、泰餐、越南粉、韩国烧烤等。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语言能力升级：提供 </a:t>
            </a:r>
            <a:r>
              <a:rPr lang="zh-CN" altLang="en-US" b="1" dirty="0"/>
              <a:t>中</a:t>
            </a:r>
            <a:r>
              <a:rPr lang="en-US" altLang="zh-CN" b="1" dirty="0"/>
              <a:t>/</a:t>
            </a:r>
            <a:r>
              <a:rPr lang="zh-CN" altLang="en-US" b="1" dirty="0"/>
              <a:t>英</a:t>
            </a:r>
            <a:r>
              <a:rPr lang="en-US" altLang="zh-CN" b="1" dirty="0"/>
              <a:t>/</a:t>
            </a:r>
            <a:r>
              <a:rPr lang="zh-CN" altLang="en-US" b="1" dirty="0"/>
              <a:t>西</a:t>
            </a:r>
            <a:r>
              <a:rPr lang="en-US" altLang="zh-CN" b="1" dirty="0"/>
              <a:t>/</a:t>
            </a:r>
            <a:r>
              <a:rPr lang="zh-CN" altLang="en-US" b="1" dirty="0"/>
              <a:t>越</a:t>
            </a:r>
            <a:r>
              <a:rPr lang="zh-CN" altLang="en-US" dirty="0"/>
              <a:t> 多语言语音模型。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深度集成：与主流外卖平台 </a:t>
            </a:r>
            <a:r>
              <a:rPr lang="en-US" altLang="zh-CN" dirty="0"/>
              <a:t>/ POS </a:t>
            </a:r>
            <a:r>
              <a:rPr lang="zh-CN" altLang="en-US" dirty="0"/>
              <a:t>系统做深度集成。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产品线延伸：推出 </a:t>
            </a:r>
            <a:r>
              <a:rPr lang="zh-CN" altLang="en-US" b="1" dirty="0"/>
              <a:t>连锁企业版（</a:t>
            </a:r>
            <a:r>
              <a:rPr lang="en-US" altLang="zh-CN" b="1" dirty="0"/>
              <a:t>Enterprise</a:t>
            </a:r>
            <a:r>
              <a:rPr lang="zh-CN" altLang="en-US" b="1" dirty="0"/>
              <a:t>）</a:t>
            </a:r>
            <a:r>
              <a:rPr lang="zh-CN" altLang="en-US" dirty="0"/>
              <a:t>，服务区域性 </a:t>
            </a:r>
            <a:r>
              <a:rPr lang="en-US" altLang="zh-CN" dirty="0"/>
              <a:t>/ </a:t>
            </a:r>
            <a:r>
              <a:rPr lang="zh-CN" altLang="en-US" dirty="0"/>
              <a:t>全国性连锁品牌。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E9A565-E0E8-05BF-BDB6-96A66DCC1FD5}"/>
              </a:ext>
            </a:extLst>
          </p:cNvPr>
          <p:cNvSpPr txBox="1"/>
          <p:nvPr/>
        </p:nvSpPr>
        <p:spPr>
          <a:xfrm>
            <a:off x="8175171" y="1408170"/>
            <a:ext cx="363582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3️⃣ </a:t>
            </a:r>
            <a:r>
              <a:rPr lang="zh-CN" altLang="en-US" b="1" dirty="0"/>
              <a:t>下一波目标客户（服务行业）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利用现有「</a:t>
            </a:r>
            <a:r>
              <a:rPr lang="zh-CN" altLang="en-US" b="1" dirty="0"/>
              <a:t>电话 </a:t>
            </a:r>
            <a:r>
              <a:rPr lang="en-US" altLang="zh-CN" b="1" dirty="0"/>
              <a:t>+ </a:t>
            </a:r>
            <a:r>
              <a:rPr lang="zh-CN" altLang="en-US" b="1" dirty="0"/>
              <a:t>多轮对话 </a:t>
            </a:r>
            <a:r>
              <a:rPr lang="en-US" altLang="zh-CN" b="1" dirty="0"/>
              <a:t>+ </a:t>
            </a:r>
            <a:r>
              <a:rPr lang="zh-CN" altLang="en-US" b="1" dirty="0"/>
              <a:t>短信 </a:t>
            </a:r>
            <a:r>
              <a:rPr lang="en-US" altLang="zh-CN" b="1" dirty="0"/>
              <a:t>+ </a:t>
            </a:r>
            <a:r>
              <a:rPr lang="zh-CN" altLang="en-US" b="1" dirty="0"/>
              <a:t>预约</a:t>
            </a:r>
            <a:r>
              <a:rPr lang="zh-CN" altLang="en-US" dirty="0"/>
              <a:t>」能力，自然扩展到：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Dental</a:t>
            </a:r>
            <a:r>
              <a:rPr lang="zh-CN" altLang="en-US" dirty="0"/>
              <a:t>（牙医诊所）：预约、改期、保险咨询。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Clinic / Hospital</a:t>
            </a:r>
            <a:r>
              <a:rPr lang="zh-CN" altLang="en-US" dirty="0"/>
              <a:t>（医院</a:t>
            </a:r>
            <a:r>
              <a:rPr lang="en-US" altLang="zh-CN" dirty="0"/>
              <a:t>/</a:t>
            </a:r>
            <a:r>
              <a:rPr lang="zh-CN" altLang="en-US" dirty="0"/>
              <a:t>诊所）：挂号、分诊导航、检查提醒。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Hotel</a:t>
            </a:r>
            <a:r>
              <a:rPr lang="zh-CN" altLang="en-US" dirty="0"/>
              <a:t>（酒店）：订房、延迟入住、客房服务、叫醒服务。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这些行业共同特征：</a:t>
            </a:r>
            <a:r>
              <a:rPr lang="zh-CN" altLang="en-US" b="1" dirty="0"/>
              <a:t>电话量大 </a:t>
            </a:r>
            <a:r>
              <a:rPr lang="en-US" altLang="zh-CN" b="1" dirty="0"/>
              <a:t>+ </a:t>
            </a:r>
            <a:r>
              <a:rPr lang="zh-CN" altLang="en-US" b="1" dirty="0"/>
              <a:t>话术标准化 </a:t>
            </a:r>
            <a:r>
              <a:rPr lang="en-US" altLang="zh-CN" b="1" dirty="0"/>
              <a:t>+ </a:t>
            </a:r>
            <a:r>
              <a:rPr lang="zh-CN" altLang="en-US" b="1" dirty="0"/>
              <a:t>人工成本高</a:t>
            </a:r>
            <a:r>
              <a:rPr lang="zh-CN" altLang="en-US" dirty="0"/>
              <a:t>，非常适合 </a:t>
            </a:r>
            <a:r>
              <a:rPr lang="en-US" altLang="zh-CN" dirty="0"/>
              <a:t>AI </a:t>
            </a:r>
            <a:r>
              <a:rPr lang="zh-CN" altLang="en-US" dirty="0"/>
              <a:t>接管。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F42100-0ADD-6FA0-08AA-37647FF6BD78}"/>
              </a:ext>
            </a:extLst>
          </p:cNvPr>
          <p:cNvSpPr/>
          <p:nvPr/>
        </p:nvSpPr>
        <p:spPr>
          <a:xfrm>
            <a:off x="311029" y="1208884"/>
            <a:ext cx="4308104" cy="527549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30A0E59-AE4D-6AA4-4745-75B5A9207744}"/>
              </a:ext>
            </a:extLst>
          </p:cNvPr>
          <p:cNvSpPr/>
          <p:nvPr/>
        </p:nvSpPr>
        <p:spPr>
          <a:xfrm>
            <a:off x="4701563" y="1159780"/>
            <a:ext cx="3405489" cy="527549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440CE8F-390B-3BE2-8A06-35FC6EE8276D}"/>
              </a:ext>
            </a:extLst>
          </p:cNvPr>
          <p:cNvSpPr/>
          <p:nvPr/>
        </p:nvSpPr>
        <p:spPr>
          <a:xfrm>
            <a:off x="8222222" y="1152207"/>
            <a:ext cx="3512917" cy="527549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9567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06AF8-B3EC-D584-95B2-29D6F6ED9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1DA70391-9BB7-0533-FE0A-A455B1BFA4D2}"/>
              </a:ext>
            </a:extLst>
          </p:cNvPr>
          <p:cNvGrpSpPr/>
          <p:nvPr/>
        </p:nvGrpSpPr>
        <p:grpSpPr>
          <a:xfrm>
            <a:off x="456861" y="373620"/>
            <a:ext cx="11278278" cy="625104"/>
            <a:chOff x="456861" y="373620"/>
            <a:chExt cx="11278278" cy="625104"/>
          </a:xfrm>
        </p:grpSpPr>
        <p:sp>
          <p:nvSpPr>
            <p:cNvPr id="11" name="Bullet1">
              <a:extLst>
                <a:ext uri="{FF2B5EF4-FFF2-40B4-BE49-F238E27FC236}">
                  <a16:creationId xmlns:a16="http://schemas.microsoft.com/office/drawing/2014/main" id="{6286DB62-68C9-FBD8-9B46-12CC494F6686}"/>
                </a:ext>
              </a:extLst>
            </p:cNvPr>
            <p:cNvSpPr txBox="1"/>
            <p:nvPr/>
          </p:nvSpPr>
          <p:spPr bwMode="auto">
            <a:xfrm>
              <a:off x="1435299" y="422724"/>
              <a:ext cx="10299840" cy="57600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defTabSz="913765">
                <a:buSzPct val="25000"/>
                <a:defRPr/>
              </a:pPr>
              <a:r>
                <a:rPr lang="zh-CN" altLang="en-US" sz="2800" b="1" dirty="0"/>
                <a:t>业务扩展规划（二）：长期能力与场景扩展</a:t>
              </a:r>
              <a:endParaRPr lang="en-US" altLang="zh-CN" sz="2800" b="1" dirty="0"/>
            </a:p>
            <a:p>
              <a:pPr lvl="0" defTabSz="913765">
                <a:buSzPct val="25000"/>
                <a:defRPr/>
              </a:pPr>
              <a:r>
                <a:rPr lang="en-US" altLang="zh-CN" sz="2800" b="1" dirty="0"/>
                <a:t>Long-term expansion: payments, industries, omni-channel</a:t>
              </a:r>
              <a:endParaRPr lang="zh-CN" altLang="en-US" sz="2800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endParaRPr>
            </a:p>
          </p:txBody>
        </p:sp>
        <p:sp>
          <p:nvSpPr>
            <p:cNvPr id="12" name="Number1">
              <a:extLst>
                <a:ext uri="{FF2B5EF4-FFF2-40B4-BE49-F238E27FC236}">
                  <a16:creationId xmlns:a16="http://schemas.microsoft.com/office/drawing/2014/main" id="{EABA7A87-61B0-1DF4-5641-E6F3AAA70C17}"/>
                </a:ext>
              </a:extLst>
            </p:cNvPr>
            <p:cNvSpPr/>
            <p:nvPr/>
          </p:nvSpPr>
          <p:spPr>
            <a:xfrm>
              <a:off x="456861" y="373620"/>
              <a:ext cx="903850" cy="613425"/>
            </a:xfrm>
            <a:prstGeom prst="round2DiagRect">
              <a:avLst>
                <a:gd name="adj1" fmla="val 0"/>
                <a:gd name="adj2" fmla="val 35305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90500" dist="635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kumimoji="1"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06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5EC93EF7-893C-3966-3C8C-74D3A209F992}"/>
              </a:ext>
            </a:extLst>
          </p:cNvPr>
          <p:cNvSpPr txBox="1"/>
          <p:nvPr/>
        </p:nvSpPr>
        <p:spPr>
          <a:xfrm>
            <a:off x="6539666" y="1391181"/>
            <a:ext cx="523501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2️⃣ </a:t>
            </a:r>
            <a:r>
              <a:rPr lang="zh-CN" altLang="en-US" b="1" dirty="0"/>
              <a:t>拓展到更大服务行业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在餐饮市场验证稳定后，逐步扩展至：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Dental / Clinic / Hospital</a:t>
            </a:r>
            <a:r>
              <a:rPr lang="zh-CN" altLang="en-US" dirty="0"/>
              <a:t>：高频预约、改期、检查通知。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Hotel</a:t>
            </a:r>
            <a:r>
              <a:rPr lang="zh-CN" altLang="en-US" dirty="0"/>
              <a:t>：订房、问路、设施咨询、客房服务、叫醒提醒。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物流 </a:t>
            </a:r>
            <a:r>
              <a:rPr lang="en-US" altLang="zh-CN" dirty="0"/>
              <a:t>/ </a:t>
            </a:r>
            <a:r>
              <a:rPr lang="zh-CN" altLang="en-US" dirty="0"/>
              <a:t>零售：订单查询、售后客服、送达通知等。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共同本质：</a:t>
            </a:r>
            <a:r>
              <a:rPr lang="zh-CN" altLang="en-US" b="1" dirty="0"/>
              <a:t>“信息收集 </a:t>
            </a:r>
            <a:r>
              <a:rPr lang="en-US" altLang="zh-CN" b="1" dirty="0"/>
              <a:t>+ </a:t>
            </a:r>
            <a:r>
              <a:rPr lang="zh-CN" altLang="en-US" b="1" dirty="0"/>
              <a:t>多轮对话 </a:t>
            </a:r>
            <a:r>
              <a:rPr lang="en-US" altLang="zh-CN" b="1" dirty="0"/>
              <a:t>+ </a:t>
            </a:r>
            <a:r>
              <a:rPr lang="zh-CN" altLang="en-US" b="1" dirty="0"/>
              <a:t>结构化输出”</a:t>
            </a:r>
            <a:r>
              <a:rPr lang="zh-CN" altLang="en-US" dirty="0"/>
              <a:t>，技术栈高度复用。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8E70C5-F8EB-FC4B-7CA6-FF15B8BA712E}"/>
              </a:ext>
            </a:extLst>
          </p:cNvPr>
          <p:cNvSpPr txBox="1"/>
          <p:nvPr/>
        </p:nvSpPr>
        <p:spPr>
          <a:xfrm>
            <a:off x="402135" y="1355467"/>
            <a:ext cx="61830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1️⃣ </a:t>
            </a:r>
            <a:r>
              <a:rPr lang="zh-CN" altLang="en-US" b="1" dirty="0"/>
              <a:t>支付整合（关键能力）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整合主流支付能力：</a:t>
            </a:r>
            <a:r>
              <a:rPr lang="en-US" altLang="zh-CN" b="1" dirty="0"/>
              <a:t>Stripe / Apple Pay / Google Pay</a:t>
            </a:r>
            <a:r>
              <a:rPr lang="zh-CN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支持 </a:t>
            </a:r>
            <a:r>
              <a:rPr lang="en-US" altLang="zh-CN" b="1" dirty="0"/>
              <a:t>Text-to-Pay </a:t>
            </a:r>
            <a:r>
              <a:rPr lang="zh-CN" altLang="en-US" b="1" dirty="0"/>
              <a:t>文本支付</a:t>
            </a:r>
            <a:r>
              <a:rPr lang="zh-CN" altLang="en-US" dirty="0"/>
              <a:t>：聊天 </a:t>
            </a:r>
            <a:r>
              <a:rPr lang="en-US" altLang="zh-CN" dirty="0"/>
              <a:t>/ </a:t>
            </a:r>
            <a:r>
              <a:rPr lang="zh-CN" altLang="en-US" dirty="0"/>
              <a:t>短信中一键完成支付。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电话点单自动触发支付链接，减少反复确认和漏单。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为后续 </a:t>
            </a:r>
            <a:r>
              <a:rPr lang="zh-CN" altLang="en-US" b="1" dirty="0"/>
              <a:t>交易抽成、外卖平台协同、对账结算</a:t>
            </a:r>
            <a:r>
              <a:rPr lang="zh-CN" altLang="en-US" dirty="0"/>
              <a:t> 打下基础。</a:t>
            </a:r>
          </a:p>
          <a:p>
            <a:pPr>
              <a:buNone/>
            </a:pPr>
            <a:r>
              <a:rPr lang="zh-CN" altLang="en-US" dirty="0"/>
              <a:t>支付能力是未来 </a:t>
            </a:r>
            <a:r>
              <a:rPr lang="en-US" altLang="zh-CN" dirty="0"/>
              <a:t>AI </a:t>
            </a:r>
            <a:r>
              <a:rPr lang="zh-CN" altLang="en-US" dirty="0"/>
              <a:t>商家基础设施的核心组件。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576232-53FD-63FB-08E0-E1B291EC1B1C}"/>
              </a:ext>
            </a:extLst>
          </p:cNvPr>
          <p:cNvSpPr txBox="1"/>
          <p:nvPr/>
        </p:nvSpPr>
        <p:spPr>
          <a:xfrm>
            <a:off x="311028" y="3757620"/>
            <a:ext cx="61830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3️⃣ </a:t>
            </a:r>
            <a:r>
              <a:rPr lang="zh-CN" altLang="en-US" b="1" dirty="0"/>
              <a:t>多场景应用：</a:t>
            </a:r>
            <a:r>
              <a:rPr lang="en-US" altLang="zh-CN" b="1" dirty="0"/>
              <a:t>AI </a:t>
            </a:r>
            <a:r>
              <a:rPr lang="zh-CN" altLang="en-US" b="1" dirty="0"/>
              <a:t>商家服务系统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通道统一：电话 </a:t>
            </a:r>
            <a:r>
              <a:rPr lang="en-US" altLang="zh-CN" dirty="0"/>
              <a:t>+ </a:t>
            </a:r>
            <a:r>
              <a:rPr lang="zh-CN" altLang="en-US" dirty="0"/>
              <a:t>短信 </a:t>
            </a:r>
            <a:r>
              <a:rPr lang="en-US" altLang="zh-CN" dirty="0"/>
              <a:t>+ WhatsApp / </a:t>
            </a:r>
            <a:r>
              <a:rPr lang="zh-CN" altLang="en-US" dirty="0"/>
              <a:t>微信统一接入。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扩展到 </a:t>
            </a:r>
            <a:r>
              <a:rPr lang="en-US" altLang="zh-CN" dirty="0"/>
              <a:t>AI </a:t>
            </a:r>
            <a:r>
              <a:rPr lang="zh-CN" altLang="en-US" dirty="0"/>
              <a:t>客服：退款、咨询、投诉、营业时间查询等。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自动处理外卖平台订单（自动接单</a:t>
            </a:r>
            <a:r>
              <a:rPr lang="en-US" altLang="zh-CN" dirty="0"/>
              <a:t>/</a:t>
            </a:r>
            <a:r>
              <a:rPr lang="zh-CN" altLang="en-US" dirty="0"/>
              <a:t>回确认）。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多语言自适应：自动识别顾客语言，并用对应语言回复。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打造 </a:t>
            </a:r>
            <a:r>
              <a:rPr lang="zh-CN" altLang="en-US" b="1" dirty="0"/>
              <a:t>全渠道自动化（</a:t>
            </a:r>
            <a:r>
              <a:rPr lang="en-US" altLang="zh-CN" b="1" dirty="0"/>
              <a:t>Omni-channel Automation</a:t>
            </a:r>
            <a:r>
              <a:rPr lang="zh-CN" altLang="en-US" b="1" dirty="0"/>
              <a:t>）</a:t>
            </a:r>
            <a:r>
              <a:rPr lang="zh-CN" altLang="en-US" dirty="0"/>
              <a:t>，成为商户的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AI </a:t>
            </a:r>
            <a:r>
              <a:rPr lang="zh-CN" altLang="en-US" b="1" dirty="0"/>
              <a:t>服务操作系统（</a:t>
            </a:r>
            <a:r>
              <a:rPr lang="en-US" altLang="zh-CN" b="1" dirty="0"/>
              <a:t>AI OPS for Local Merchants</a:t>
            </a:r>
            <a:r>
              <a:rPr lang="zh-CN" altLang="en-US" b="1" dirty="0"/>
              <a:t>）</a:t>
            </a:r>
            <a:r>
              <a:rPr lang="zh-CN" altLang="en-US" dirty="0"/>
              <a:t>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FEB1A8E-DC74-5F5F-6EA9-40D384F1798F}"/>
              </a:ext>
            </a:extLst>
          </p:cNvPr>
          <p:cNvSpPr txBox="1"/>
          <p:nvPr/>
        </p:nvSpPr>
        <p:spPr>
          <a:xfrm>
            <a:off x="6494112" y="50407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PS.</a:t>
            </a:r>
            <a:r>
              <a:rPr lang="zh-CN" altLang="en-US" dirty="0"/>
              <a:t>做一个 </a:t>
            </a:r>
            <a:r>
              <a:rPr lang="zh-CN" altLang="en-US" b="1" dirty="0"/>
              <a:t>从“点餐 </a:t>
            </a:r>
            <a:r>
              <a:rPr lang="en-US" altLang="zh-CN" b="1" dirty="0"/>
              <a:t>Agent”</a:t>
            </a:r>
            <a:r>
              <a:rPr lang="zh-CN" altLang="en-US" b="1" dirty="0"/>
              <a:t>到“</a:t>
            </a:r>
            <a:r>
              <a:rPr lang="en-US" altLang="zh-CN" b="1" dirty="0"/>
              <a:t>AI OPS” </a:t>
            </a:r>
            <a:r>
              <a:rPr lang="zh-CN" altLang="en-US" b="1" dirty="0"/>
              <a:t>的箭头式演进图</a:t>
            </a:r>
            <a:r>
              <a:rPr lang="zh-CN" altLang="en-US" dirty="0"/>
              <a:t>：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F088C7-A3BD-AD85-0355-42F204CBB527}"/>
              </a:ext>
            </a:extLst>
          </p:cNvPr>
          <p:cNvSpPr/>
          <p:nvPr/>
        </p:nvSpPr>
        <p:spPr>
          <a:xfrm>
            <a:off x="311028" y="1216058"/>
            <a:ext cx="5920089" cy="2033144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C0B5B5D-34E9-3756-DB3B-854B63FD41A8}"/>
              </a:ext>
            </a:extLst>
          </p:cNvPr>
          <p:cNvSpPr/>
          <p:nvPr/>
        </p:nvSpPr>
        <p:spPr>
          <a:xfrm>
            <a:off x="311028" y="3439116"/>
            <a:ext cx="5920089" cy="2811494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D9A4532-D506-1B16-9277-8F5F7D72444F}"/>
              </a:ext>
            </a:extLst>
          </p:cNvPr>
          <p:cNvSpPr/>
          <p:nvPr/>
        </p:nvSpPr>
        <p:spPr>
          <a:xfrm>
            <a:off x="6494113" y="1216057"/>
            <a:ext cx="5235018" cy="317683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3077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59053-5CF7-7565-347F-FA4720516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5D0C3150-6066-392E-4437-1643E1CD606D}"/>
              </a:ext>
            </a:extLst>
          </p:cNvPr>
          <p:cNvGrpSpPr/>
          <p:nvPr/>
        </p:nvGrpSpPr>
        <p:grpSpPr>
          <a:xfrm>
            <a:off x="456861" y="373620"/>
            <a:ext cx="11278278" cy="625104"/>
            <a:chOff x="456861" y="373620"/>
            <a:chExt cx="11278278" cy="625104"/>
          </a:xfrm>
        </p:grpSpPr>
        <p:sp>
          <p:nvSpPr>
            <p:cNvPr id="11" name="Bullet1">
              <a:extLst>
                <a:ext uri="{FF2B5EF4-FFF2-40B4-BE49-F238E27FC236}">
                  <a16:creationId xmlns:a16="http://schemas.microsoft.com/office/drawing/2014/main" id="{3582F414-693B-FD7C-4315-FAAB81E231F5}"/>
                </a:ext>
              </a:extLst>
            </p:cNvPr>
            <p:cNvSpPr txBox="1"/>
            <p:nvPr/>
          </p:nvSpPr>
          <p:spPr bwMode="auto">
            <a:xfrm>
              <a:off x="1435299" y="422724"/>
              <a:ext cx="10299840" cy="57600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defTabSz="913765">
                <a:buSzPct val="25000"/>
                <a:defRPr/>
              </a:pPr>
              <a:r>
                <a:rPr lang="zh-CN" altLang="en-US" sz="2800" b="1" dirty="0"/>
                <a:t>业务扩展规划（三）：三年路线图</a:t>
              </a:r>
              <a:br>
                <a:rPr lang="zh-CN" altLang="en-US" sz="2800" dirty="0"/>
              </a:br>
              <a:r>
                <a:rPr lang="en-US" altLang="zh-CN" sz="2800" b="1" dirty="0"/>
                <a:t>Three-year roadmap</a:t>
              </a:r>
              <a:endParaRPr lang="zh-CN" altLang="en-US" sz="2800" b="1" dirty="0"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</a:endParaRPr>
            </a:p>
          </p:txBody>
        </p:sp>
        <p:sp>
          <p:nvSpPr>
            <p:cNvPr id="12" name="Number1">
              <a:extLst>
                <a:ext uri="{FF2B5EF4-FFF2-40B4-BE49-F238E27FC236}">
                  <a16:creationId xmlns:a16="http://schemas.microsoft.com/office/drawing/2014/main" id="{E17F7FCE-AA89-7BF7-9054-7E99384D5420}"/>
                </a:ext>
              </a:extLst>
            </p:cNvPr>
            <p:cNvSpPr/>
            <p:nvPr/>
          </p:nvSpPr>
          <p:spPr>
            <a:xfrm>
              <a:off x="456861" y="373620"/>
              <a:ext cx="903850" cy="613425"/>
            </a:xfrm>
            <a:prstGeom prst="round2DiagRect">
              <a:avLst>
                <a:gd name="adj1" fmla="val 0"/>
                <a:gd name="adj2" fmla="val 35305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190500" dist="635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kumimoji="1"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06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D45733AF-C02B-A5C7-AE47-145BC56276BC}"/>
              </a:ext>
            </a:extLst>
          </p:cNvPr>
          <p:cNvSpPr txBox="1"/>
          <p:nvPr/>
        </p:nvSpPr>
        <p:spPr>
          <a:xfrm>
            <a:off x="489218" y="1123587"/>
            <a:ext cx="67599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Year 1</a:t>
            </a:r>
            <a:r>
              <a:rPr lang="zh-CN" altLang="en-US" b="1" dirty="0"/>
              <a:t>：中餐外送（</a:t>
            </a:r>
            <a:r>
              <a:rPr lang="en-US" altLang="zh-CN" b="1" dirty="0"/>
              <a:t>0 → 1</a:t>
            </a:r>
            <a:r>
              <a:rPr lang="zh-CN" altLang="en-US" b="1" dirty="0"/>
              <a:t>）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完成 </a:t>
            </a:r>
            <a:r>
              <a:rPr lang="en-US" altLang="zh-CN" b="1" dirty="0"/>
              <a:t>300–1000 </a:t>
            </a:r>
            <a:r>
              <a:rPr lang="zh-CN" altLang="en-US" b="1" dirty="0"/>
              <a:t>家中餐外送店</a:t>
            </a:r>
            <a:r>
              <a:rPr lang="zh-CN" altLang="en-US" dirty="0"/>
              <a:t> 的落地（重点在 </a:t>
            </a:r>
            <a:r>
              <a:rPr lang="en-US" altLang="zh-CN" dirty="0"/>
              <a:t>CA</a:t>
            </a:r>
            <a:r>
              <a:rPr lang="zh-CN" altLang="en-US" dirty="0"/>
              <a:t>、</a:t>
            </a:r>
            <a:r>
              <a:rPr lang="en-US" altLang="zh-CN" dirty="0"/>
              <a:t>NY</a:t>
            </a:r>
            <a:r>
              <a:rPr lang="zh-CN" altLang="en-US" dirty="0"/>
              <a:t>、</a:t>
            </a:r>
            <a:r>
              <a:rPr lang="en-US" altLang="zh-CN" dirty="0"/>
              <a:t>TX</a:t>
            </a:r>
            <a:r>
              <a:rPr lang="zh-CN" altLang="en-US" dirty="0"/>
              <a:t>、</a:t>
            </a:r>
            <a:r>
              <a:rPr lang="en-US" altLang="zh-CN" dirty="0"/>
              <a:t>FL</a:t>
            </a:r>
            <a:r>
              <a:rPr lang="zh-CN" altLang="en-US" dirty="0"/>
              <a:t>、</a:t>
            </a:r>
            <a:r>
              <a:rPr lang="en-US" altLang="zh-CN" dirty="0"/>
              <a:t>NJ</a:t>
            </a:r>
            <a:r>
              <a:rPr lang="zh-CN" altLang="en-US" dirty="0"/>
              <a:t>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深度优化中英双语菜单与点餐语料，提升识别率和转化率。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上线</a:t>
            </a:r>
            <a:r>
              <a:rPr lang="zh-CN" altLang="en-US" b="1" dirty="0"/>
              <a:t>首版支付与 </a:t>
            </a:r>
            <a:r>
              <a:rPr lang="en-US" altLang="zh-CN" b="1" dirty="0"/>
              <a:t>POS </a:t>
            </a:r>
            <a:r>
              <a:rPr lang="zh-CN" altLang="en-US" b="1" dirty="0"/>
              <a:t>集成</a:t>
            </a:r>
            <a:r>
              <a:rPr lang="zh-CN" altLang="en-US" dirty="0"/>
              <a:t>，完成从“接单”到“入账”的闭环。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FA9CD2-E9C8-B6CC-DAC3-78F0349DE4B8}"/>
              </a:ext>
            </a:extLst>
          </p:cNvPr>
          <p:cNvSpPr txBox="1"/>
          <p:nvPr/>
        </p:nvSpPr>
        <p:spPr>
          <a:xfrm>
            <a:off x="2361902" y="2713023"/>
            <a:ext cx="62701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Year 2</a:t>
            </a:r>
            <a:r>
              <a:rPr lang="zh-CN" altLang="en-US" b="1" dirty="0"/>
              <a:t>：亚洲餐扩张（</a:t>
            </a:r>
            <a:r>
              <a:rPr lang="en-US" altLang="zh-CN" b="1" dirty="0"/>
              <a:t>1 → 10</a:t>
            </a:r>
            <a:r>
              <a:rPr lang="zh-CN" altLang="en-US" b="1" dirty="0"/>
              <a:t>）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将方案扩展到 </a:t>
            </a:r>
            <a:r>
              <a:rPr lang="zh-CN" altLang="en-US" b="1" dirty="0"/>
              <a:t>日料 </a:t>
            </a:r>
            <a:r>
              <a:rPr lang="en-US" altLang="zh-CN" b="1" dirty="0"/>
              <a:t>/ </a:t>
            </a:r>
            <a:r>
              <a:rPr lang="zh-CN" altLang="en-US" b="1" dirty="0"/>
              <a:t>泰餐 </a:t>
            </a:r>
            <a:r>
              <a:rPr lang="en-US" altLang="zh-CN" b="1" dirty="0"/>
              <a:t>/ </a:t>
            </a:r>
            <a:r>
              <a:rPr lang="zh-CN" altLang="en-US" b="1" dirty="0"/>
              <a:t>越南粉 </a:t>
            </a:r>
            <a:r>
              <a:rPr lang="en-US" altLang="zh-CN" b="1" dirty="0"/>
              <a:t>/ </a:t>
            </a:r>
            <a:r>
              <a:rPr lang="zh-CN" altLang="en-US" b="1" dirty="0"/>
              <a:t>韩餐</a:t>
            </a:r>
            <a:r>
              <a:rPr lang="zh-CN" altLang="en-US" dirty="0"/>
              <a:t> 等主流亚洲菜系。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形成 </a:t>
            </a:r>
            <a:r>
              <a:rPr lang="zh-CN" altLang="en-US" b="1" dirty="0"/>
              <a:t>中</a:t>
            </a:r>
            <a:r>
              <a:rPr lang="en-US" altLang="zh-CN" b="1" dirty="0"/>
              <a:t>/</a:t>
            </a:r>
            <a:r>
              <a:rPr lang="zh-CN" altLang="en-US" b="1" dirty="0"/>
              <a:t>英</a:t>
            </a:r>
            <a:r>
              <a:rPr lang="en-US" altLang="zh-CN" b="1" dirty="0"/>
              <a:t>/</a:t>
            </a:r>
            <a:r>
              <a:rPr lang="zh-CN" altLang="en-US" b="1" dirty="0"/>
              <a:t>西</a:t>
            </a:r>
            <a:r>
              <a:rPr lang="en-US" altLang="zh-CN" b="1" dirty="0"/>
              <a:t>/</a:t>
            </a:r>
            <a:r>
              <a:rPr lang="zh-CN" altLang="en-US" b="1" dirty="0"/>
              <a:t>越</a:t>
            </a:r>
            <a:r>
              <a:rPr lang="zh-CN" altLang="en-US" dirty="0"/>
              <a:t> 多语言模型，覆盖更多移民社区。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与主流外卖平台 </a:t>
            </a:r>
            <a:r>
              <a:rPr lang="zh-CN" altLang="en-US" b="1" dirty="0"/>
              <a:t>全面打通</a:t>
            </a:r>
            <a:r>
              <a:rPr lang="zh-CN" altLang="en-US" dirty="0"/>
              <a:t>（接单、改单、库存同步）。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推出 </a:t>
            </a:r>
            <a:r>
              <a:rPr lang="zh-CN" altLang="en-US" b="1" dirty="0"/>
              <a:t>连锁企业版（</a:t>
            </a:r>
            <a:r>
              <a:rPr lang="en-US" altLang="zh-CN" b="1" dirty="0"/>
              <a:t>Enterprise</a:t>
            </a:r>
            <a:r>
              <a:rPr lang="zh-CN" altLang="en-US" b="1" dirty="0"/>
              <a:t>）</a:t>
            </a:r>
            <a:r>
              <a:rPr lang="zh-CN" altLang="en-US" dirty="0"/>
              <a:t>：支持多门店管理、总部配置、统一报表。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45C938-D44E-BC64-4EC1-FCC79BB14500}"/>
              </a:ext>
            </a:extLst>
          </p:cNvPr>
          <p:cNvSpPr txBox="1"/>
          <p:nvPr/>
        </p:nvSpPr>
        <p:spPr>
          <a:xfrm>
            <a:off x="4524438" y="4545508"/>
            <a:ext cx="68442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Year 3</a:t>
            </a:r>
            <a:r>
              <a:rPr lang="zh-CN" altLang="en-US" b="1" dirty="0"/>
              <a:t>：跨行业（</a:t>
            </a:r>
            <a:r>
              <a:rPr lang="en-US" altLang="zh-CN" b="1" dirty="0"/>
              <a:t>10 → 100</a:t>
            </a:r>
            <a:r>
              <a:rPr lang="zh-CN" altLang="en-US" b="1" dirty="0"/>
              <a:t>）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在 </a:t>
            </a:r>
            <a:r>
              <a:rPr lang="en-US" altLang="zh-CN" b="1" dirty="0"/>
              <a:t>Dental / Clinic / Hotel</a:t>
            </a:r>
            <a:r>
              <a:rPr lang="zh-CN" altLang="en-US" dirty="0"/>
              <a:t> 等行业全面扩展，打造行业模板。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构建 </a:t>
            </a:r>
            <a:r>
              <a:rPr lang="zh-CN" altLang="en-US" b="1" dirty="0"/>
              <a:t>支付闭环 </a:t>
            </a:r>
            <a:r>
              <a:rPr lang="en-US" altLang="zh-CN" b="1" dirty="0"/>
              <a:t>&amp; </a:t>
            </a:r>
            <a:r>
              <a:rPr lang="zh-CN" altLang="en-US" b="1" dirty="0"/>
              <a:t>交易自动化</a:t>
            </a:r>
            <a:r>
              <a:rPr lang="zh-CN" altLang="en-US" dirty="0"/>
              <a:t>：从预约</a:t>
            </a:r>
            <a:r>
              <a:rPr lang="en-US" altLang="zh-CN" dirty="0"/>
              <a:t>/</a:t>
            </a:r>
            <a:r>
              <a:rPr lang="zh-CN" altLang="en-US" dirty="0"/>
              <a:t>点单到支付</a:t>
            </a:r>
            <a:r>
              <a:rPr lang="en-US" altLang="zh-CN" dirty="0"/>
              <a:t>/</a:t>
            </a:r>
            <a:r>
              <a:rPr lang="zh-CN" altLang="en-US" dirty="0"/>
              <a:t>对账全自动。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形成“本地商家 </a:t>
            </a:r>
            <a:r>
              <a:rPr lang="en-US" altLang="zh-CN" dirty="0"/>
              <a:t>AI </a:t>
            </a:r>
            <a:r>
              <a:rPr lang="zh-CN" altLang="en-US" dirty="0"/>
              <a:t>服务基础设施”，成为地区性服务行业的默认标配。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71D591E-B98E-268C-3FA7-41F3DA5C0A0E}"/>
              </a:ext>
            </a:extLst>
          </p:cNvPr>
          <p:cNvSpPr txBox="1"/>
          <p:nvPr/>
        </p:nvSpPr>
        <p:spPr>
          <a:xfrm>
            <a:off x="1752430" y="6052505"/>
            <a:ext cx="86871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从中餐外送切入，通过语音 </a:t>
            </a:r>
            <a:r>
              <a:rPr lang="en-US" altLang="zh-CN" b="1" dirty="0">
                <a:solidFill>
                  <a:srgbClr val="C00000"/>
                </a:solidFill>
              </a:rPr>
              <a:t>+ </a:t>
            </a:r>
            <a:r>
              <a:rPr lang="zh-CN" altLang="en-US" b="1" dirty="0">
                <a:solidFill>
                  <a:srgbClr val="C00000"/>
                </a:solidFill>
              </a:rPr>
              <a:t>短信点单迅速建立规模，再扩展到支付、预约、客服与多行业场景，最终构建本地商家的全渠道 </a:t>
            </a:r>
            <a:r>
              <a:rPr lang="en-US" altLang="zh-CN" b="1" dirty="0">
                <a:solidFill>
                  <a:srgbClr val="C00000"/>
                </a:solidFill>
              </a:rPr>
              <a:t>AI </a:t>
            </a:r>
            <a:r>
              <a:rPr lang="zh-CN" altLang="en-US" b="1" dirty="0">
                <a:solidFill>
                  <a:srgbClr val="C00000"/>
                </a:solidFill>
              </a:rPr>
              <a:t>服务操作系统。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E3F3319-E0B3-AED7-2A52-DE311E9C3176}"/>
              </a:ext>
            </a:extLst>
          </p:cNvPr>
          <p:cNvSpPr/>
          <p:nvPr/>
        </p:nvSpPr>
        <p:spPr>
          <a:xfrm>
            <a:off x="494529" y="1152362"/>
            <a:ext cx="6528440" cy="1504607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BE915D1-B3F2-21EA-8BA7-02A41B43FBD0}"/>
              </a:ext>
            </a:extLst>
          </p:cNvPr>
          <p:cNvSpPr/>
          <p:nvPr/>
        </p:nvSpPr>
        <p:spPr>
          <a:xfrm>
            <a:off x="2258742" y="2736603"/>
            <a:ext cx="6270171" cy="1677965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7DB94F1-E341-C8E2-B4C8-91A9366DE3FC}"/>
              </a:ext>
            </a:extLst>
          </p:cNvPr>
          <p:cNvSpPr/>
          <p:nvPr/>
        </p:nvSpPr>
        <p:spPr>
          <a:xfrm>
            <a:off x="4491782" y="4518229"/>
            <a:ext cx="6773249" cy="1504607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5489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heme/theme1.xml><?xml version="1.0" encoding="utf-8"?>
<a:theme xmlns:a="http://schemas.openxmlformats.org/drawingml/2006/main" name="第一PPT，www.1ppt.com">
  <a:themeElements>
    <a:clrScheme name="自定义 369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6C7E"/>
      </a:accent1>
      <a:accent2>
        <a:srgbClr val="16515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eb5iqn">
      <a:majorFont>
        <a:latin typeface="思源黑体"/>
        <a:ea typeface="思源黑体"/>
        <a:cs typeface="Arial"/>
      </a:majorFont>
      <a:minorFont>
        <a:latin typeface="思源黑体"/>
        <a:ea typeface="思源黑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201</TotalTime>
  <Words>4986</Words>
  <Application>Microsoft Office PowerPoint</Application>
  <PresentationFormat>宽屏</PresentationFormat>
  <Paragraphs>440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等线</vt:lpstr>
      <vt:lpstr>思源宋体 CN Heavy</vt:lpstr>
      <vt:lpstr>微软雅黑</vt:lpstr>
      <vt:lpstr>Arial</vt:lpstr>
      <vt:lpstr>Times New Roman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发布会</dc:title>
  <dc:creator>第一PPT</dc:creator>
  <cp:keywords>www.1ppt.com</cp:keywords>
  <dc:description>www.1ppt.com</dc:description>
  <cp:lastModifiedBy>欣 樊</cp:lastModifiedBy>
  <cp:revision>10</cp:revision>
  <dcterms:created xsi:type="dcterms:W3CDTF">2025-03-03T05:36:00Z</dcterms:created>
  <dcterms:modified xsi:type="dcterms:W3CDTF">2025-11-22T06:23:23Z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1AC998A5043A4A338ABDD0F99F4F1F02_12</vt:lpwstr>
  </property>
  <property fmtid="{D5CDD505-2E9C-101B-9397-08002B2CF9AE}" pid="3" name="KSOProductBuildVer">
    <vt:lpwstr>2052-12.1.0.21171</vt:lpwstr>
  </property>
</Properties>
</file>